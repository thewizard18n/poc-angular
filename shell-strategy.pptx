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bytebytego.com" TargetMode="External"/><Relationship Id="rId2" Type="http://schemas.openxmlformats.org/officeDocument/2006/relationships/hyperlink" Target="https://www.microfrontend.dev/architecture/monolith-modularization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cademia.edu/164907086" TargetMode="External"/><Relationship Id="rId2" Type="http://schemas.openxmlformats.org/officeDocument/2006/relationships/hyperlink" Target="https://journals.aom.org/doi/10.5465/ambpp.2013.16544abstrac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frontend.dev/architecture/monolith-modularization/" TargetMode="External"/><Relationship Id="rId3" Type="http://schemas.openxmlformats.org/officeDocument/2006/relationships/hyperlink" Target="https://bytebytego.com" TargetMode="External"/><Relationship Id="rId1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-frontends.org/" TargetMode="External"/><Relationship Id="rId3" Type="http://schemas.openxmlformats.org/officeDocument/2006/relationships/hyperlink" Target="https://www.microfrontend.dev/architecture/monolith-modularization/" TargetMode="Externa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AngularJS ao Shell Moderno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4688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migração incremental: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modularização, Shell e decisão baseada em evidência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3401568"/>
            <a:ext cx="1097280" cy="54864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611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9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atual  ·  Modularização vs Microfrontend  ·  Milestones M1–M6  ·  End State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6400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 ·  Documento Interno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Hoje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1274552" cy="54864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Hoje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5661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566160" cy="347472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05840"/>
            <a:ext cx="33101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 Tecnologia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AngularJS e Angular 20 coexistindo via web components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2633472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familiaridade com padrões modernos: standalone, signals, DI com abstract classes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3803904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dupla: framework e arquitetura ao mesmo tempo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78808" y="960120"/>
            <a:ext cx="35661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78808" y="960120"/>
            <a:ext cx="3566160" cy="347472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005840"/>
            <a:ext cx="33101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 Domínios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1463040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clareza de ownership — ninguém sabe onde um domínio termina e outro começa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43400" y="2633472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duplicado em múltiplos pontos sem estratégia de reuso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43400" y="3803904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padronização entre times e consultorias trabalhando no mesmo repo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00416" y="960120"/>
            <a:ext cx="356616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0416" y="960120"/>
            <a:ext cx="3566160" cy="347472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1005840"/>
            <a:ext cx="33101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Operação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65008" y="1463040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único: uma mudança exige rebuild e deploy completo de tudo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65008" y="2633472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times convergindo para o mesmo artefato sem feature flags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65008" y="3803904"/>
            <a:ext cx="32918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testes automatizados aumentando risco de cada entrega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5833872"/>
            <a:ext cx="11274552" cy="731520"/>
          </a:xfrm>
          <a:prstGeom prst="rect">
            <a:avLst/>
          </a:prstGeom>
          <a:solidFill>
            <a:srgbClr val="E0F2F2"/>
          </a:solidFill>
          <a:ln w="9525">
            <a:solidFill>
              <a:srgbClr val="A8D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5907024"/>
            <a:ext cx="110002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honesto: qualquer decisão arquitetural de grande porte tomada agora seria feita com o mínimo de conhecimento e o máximo de risco — exatamente o que o Project Paradox chama de "risk chasm".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Modularização  ≠  Microfrontend — Mas Uma Habilita a Outra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1274552" cy="54864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Modularização  ≠  Microfrontend — Mas Uma Habilita a Outra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34924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5349240" cy="347472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996696"/>
            <a:ext cx="1463040" cy="274320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966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417320"/>
            <a:ext cx="50932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Modularização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1792" y="1847088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Reorganizar o código em módulos com fronteiras claras, dentro do mesmo app e deploy único.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248716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único — zero overhead de infraestrutura distribuída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314553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Fronteiras lógicas: domínio com pasta própria, barrel e contrato público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3803904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Sheriff e module boundaries impedem acoplamento acidental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" y="4462272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aprende DDD sem sobrecarga de infra distribuída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" y="51206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duplicado eliminado via módulos shared com contratos explícitos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16168" y="3291840"/>
            <a:ext cx="438912" cy="347472"/>
          </a:xfrm>
          <a:prstGeom prst="rightArrow">
            <a:avLst/>
          </a:prstGeom>
          <a:solidFill>
            <a:srgbClr val="A8D8D8"/>
          </a:solidFill>
          <a:ln w="12700">
            <a:solidFill>
              <a:srgbClr val="A8D8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960120"/>
            <a:ext cx="534924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960120"/>
            <a:ext cx="5349240" cy="347472"/>
          </a:xfrm>
          <a:prstGeom prst="rect">
            <a:avLst/>
          </a:prstGeom>
          <a:solidFill>
            <a:srgbClr val="FEF0E3"/>
          </a:solidFill>
          <a:ln w="9525">
            <a:solidFill>
              <a:srgbClr val="FEF0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996696"/>
            <a:ext cx="1463040" cy="274320"/>
          </a:xfrm>
          <a:prstGeom prst="rect">
            <a:avLst/>
          </a:prstGeom>
          <a:solidFill>
            <a:srgbClr val="FEF0E3"/>
          </a:solidFill>
          <a:ln w="9525">
            <a:solidFill>
              <a:srgbClr val="FEF0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9966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FUTURO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1417320"/>
            <a:ext cx="50932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73952" y="1847088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domínios em aplicações com deploy independente, quando a evidência real justificar a complexidade.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73952" y="248716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independente por domínio ou time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73952" y="314553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Federation / Native Federation como infraestrutura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73952" y="3803904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app tem seu próprio ciclo de release e pipeline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73952" y="4462272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real: auth, roteamento, design system, versioning compartilhado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73952" y="51206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justifica quando o ganho de autonomia supera o custo operacional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Fonte: </a:t>
            </a:r>
            <a:pPr algn="l" indent="0" marL="0">
              <a:buNone/>
            </a:pPr>
            <a:r>
              <a:rPr lang="en-US" sz="85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ByteByteGo — Modular Monolith vs Microservices</a:t>
            </a:r>
            <a:pPr algn="l" indent="0" marL="0">
              <a:buNone/>
            </a:pPr>
            <a:r>
              <a:rPr lang="en-US" sz="8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·  </a:t>
            </a:r>
            <a:pPr algn="l" indent="0" marL="0">
              <a:buNone/>
            </a:pPr>
            <a:r>
              <a:rPr lang="en-US" sz="85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microfrontend.dev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Ir Direto para Microfrontend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1274552" cy="54864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Ir Direto para Microfrontend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349240" cy="5394960"/>
          </a:xfrm>
          <a:prstGeom prst="rect">
            <a:avLst/>
          </a:prstGeom>
          <a:solidFill>
            <a:srgbClr val="FDEAED"/>
          </a:solidFill>
          <a:ln w="9525">
            <a:solidFill>
              <a:srgbClr val="8B22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5349240" cy="347472"/>
          </a:xfrm>
          <a:prstGeom prst="rect">
            <a:avLst/>
          </a:prstGeom>
          <a:solidFill>
            <a:srgbClr val="FDEAED"/>
          </a:solidFill>
          <a:ln w="9525">
            <a:solidFill>
              <a:srgbClr val="8B22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05840"/>
            <a:ext cx="50932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 →  Microfrontend direto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1371600"/>
            <a:ext cx="5074920" cy="0"/>
          </a:xfrm>
          <a:prstGeom prst="line">
            <a:avLst/>
          </a:prstGeom>
          <a:noFill/>
          <a:ln w="6350">
            <a:solidFill>
              <a:srgbClr val="D4AD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8132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distribuído: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complexidade de microserviços sem os benefícios de autonomia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13969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Fronteiras erradas: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sem clareza de domínio hoje, serão cristalizadas em infra distribuída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2798064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ainda sincronizados: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times continuam dependentes uns dos outros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3456432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JS 27x maior: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1,85 MiB vs 50,75 MiB (estudo comparativo 2026)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411480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10x mais lento: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10,7s vs 113,8s em ambiente controlado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" y="477316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8B2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empilhada: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Angular moderno + Module Federation + infra distribuída ao mesmo tempo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960120"/>
            <a:ext cx="5349240" cy="5394960"/>
          </a:xfrm>
          <a:prstGeom prst="rect">
            <a:avLst/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960120"/>
            <a:ext cx="5349240" cy="347472"/>
          </a:xfrm>
          <a:prstGeom prst="rect">
            <a:avLst/>
          </a:prstGeom>
          <a:solidFill>
            <a:srgbClr val="E0F2F2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005840"/>
            <a:ext cx="50932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 →  Modularizar  →  Microfrontend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73952" y="1371600"/>
            <a:ext cx="5074920" cy="0"/>
          </a:xfrm>
          <a:prstGeom prst="line">
            <a:avLst/>
          </a:prstGeom>
          <a:noFill/>
          <a:ln w="6350">
            <a:solidFill>
              <a:srgbClr val="A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48132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Fronteiras validadas: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módulos antes de distribuir elimina incerteza arquitetural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3952" y="2139696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informada: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você sabe quais domínios realmente precisam de independência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73952" y="2798064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capacitado: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aprende padrões modernos sem sobrecarga de infra distribuída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73952" y="3456432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mais produtivo: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em partes modulares vs acopladas (Academy of Management, 2013)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73952" y="411480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reduzido: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cada fase gera aprendizado que protege a próxima decisão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73952" y="4773168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 opcional: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destino possível, não ponto de partida obrigatório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Fonte: </a:t>
            </a:r>
            <a:pPr algn="l" indent="0" marL="0">
              <a:buNone/>
            </a:pPr>
            <a:r>
              <a:rPr lang="en-US" sz="85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ZAIN Publications — Comparative Study, 2026</a:t>
            </a:r>
            <a:pPr algn="l" indent="0" marL="0">
              <a:buNone/>
            </a:pPr>
            <a:r>
              <a:rPr lang="en-US" sz="8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·  </a:t>
            </a:r>
            <a:pPr algn="l" indent="0" marL="0">
              <a:buNone/>
            </a:pPr>
            <a:r>
              <a:rPr lang="en-US" sz="850" u="sng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Academy of Management, Modular Design and Option Value, 2013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Jornada: 6 Milestones até o End State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1274552" cy="54864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Jornada: 6 Milestones até o End State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3657600" cy="310896"/>
          </a:xfrm>
          <a:prstGeom prst="rect">
            <a:avLst/>
          </a:prstGeom>
          <a:solidFill>
            <a:srgbClr val="E0F2F2"/>
          </a:solidFill>
          <a:ln w="9525">
            <a:solidFill>
              <a:srgbClr val="A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VISÃO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87952" y="987552"/>
            <a:ext cx="1874520" cy="310896"/>
          </a:xfrm>
          <a:prstGeom prst="rect">
            <a:avLst/>
          </a:prstGeom>
          <a:solidFill>
            <a:srgbClr val="E0F2F2"/>
          </a:solidFill>
          <a:ln w="9525">
            <a:solidFill>
              <a:srgbClr val="A8D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87952" y="987552"/>
            <a:ext cx="1874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EXPERIÊNCIA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35624" y="987552"/>
            <a:ext cx="3639312" cy="310896"/>
          </a:xfrm>
          <a:prstGeom prst="rect">
            <a:avLst/>
          </a:prstGeom>
          <a:solidFill>
            <a:srgbClr val="E0F2F2"/>
          </a:solidFill>
          <a:ln w="9525">
            <a:solidFill>
              <a:srgbClr val="A8D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35624" y="987552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MIGRAÇÃO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848088" y="987552"/>
            <a:ext cx="1883664" cy="310896"/>
          </a:xfrm>
          <a:prstGeom prst="rect">
            <a:avLst/>
          </a:prstGeom>
          <a:solidFill>
            <a:srgbClr val="FEF0E3"/>
          </a:solidFill>
          <a:ln w="9525">
            <a:solidFill>
              <a:srgbClr val="C461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48088" y="987552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FUTURO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11274552" cy="64008"/>
          </a:xfrm>
          <a:prstGeom prst="rect">
            <a:avLst/>
          </a:prstGeom>
          <a:solidFill>
            <a:srgbClr val="D4D1CA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2084832"/>
            <a:ext cx="237744" cy="237744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17007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4323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084832"/>
            <a:ext cx="237744" cy="237744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81528" y="17007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53512" y="24323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0" y="2084832"/>
            <a:ext cx="237744" cy="237744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7007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24323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2084832"/>
            <a:ext cx="237744" cy="237744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17007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02552" y="24323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em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23960" y="2084832"/>
            <a:ext cx="237744" cy="237744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05088" y="17007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77072" y="24323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698480" y="2084832"/>
            <a:ext cx="237744" cy="237744"/>
          </a:xfrm>
          <a:prstGeom prst="ellipse">
            <a:avLst/>
          </a:prstGeom>
          <a:solidFill>
            <a:srgbClr val="C4610A"/>
          </a:solidFill>
          <a:ln w="12700">
            <a:solidFill>
              <a:srgbClr val="C461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9608" y="17007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451592" y="24323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Formalizada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090672"/>
            <a:ext cx="181051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090672"/>
            <a:ext cx="1810512" cy="274320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127248"/>
            <a:ext cx="167335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3474720"/>
            <a:ext cx="1645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métricas e rollout aprovados e publicados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331720" y="3090672"/>
            <a:ext cx="181051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31720" y="3090672"/>
            <a:ext cx="1810512" cy="274320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23160" y="3127248"/>
            <a:ext cx="167335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23160" y="3474720"/>
            <a:ext cx="1645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 repo, pipeline, auth e feature toggles prontos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06240" y="3090672"/>
            <a:ext cx="181051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06240" y="3090672"/>
            <a:ext cx="1810512" cy="274320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0" y="3127248"/>
            <a:ext cx="167335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97680" y="3474720"/>
            <a:ext cx="1645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componentes base e Storybook interno disponíveis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80760" y="3090672"/>
            <a:ext cx="181051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80760" y="3090672"/>
            <a:ext cx="1810512" cy="274320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127248"/>
            <a:ext cx="167335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3474720"/>
            <a:ext cx="1645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em produção renderizando legado via iframe com rollback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955280" y="3090672"/>
            <a:ext cx="181051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55280" y="3090672"/>
            <a:ext cx="1810512" cy="274320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46720" y="3127248"/>
            <a:ext cx="167335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046720" y="3474720"/>
            <a:ext cx="1645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telas nativas + AngularJS em redução controlada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829800" y="3090672"/>
            <a:ext cx="181051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29800" y="3090672"/>
            <a:ext cx="1810512" cy="274320"/>
          </a:xfrm>
          <a:prstGeom prst="rect">
            <a:avLst/>
          </a:prstGeom>
          <a:solidFill>
            <a:srgbClr val="FEF0E3"/>
          </a:solidFill>
          <a:ln w="9525">
            <a:solidFill>
              <a:srgbClr val="FEF0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21240" y="3127248"/>
            <a:ext cx="167335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921240" y="3474720"/>
            <a:ext cx="1645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para microfrontend definidos com evidência real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Visão e Critérios   ·   M2 · Fundação Técnica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1274552" cy="54864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Visão e Critérios   ·   M2 · Fundação Técnica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49240" cy="49194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349240" cy="347472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42416"/>
            <a:ext cx="1463040" cy="274320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424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463040"/>
            <a:ext cx="50932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 Critérios do Shell Definidos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938528"/>
            <a:ext cx="5074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Arquitetura-alvo do Shell, formas de convivência (iframe + nativo), estratégia de modularização vertical e papel do design system formalmente aprovados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2825496"/>
            <a:ext cx="5074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métricas e critérios de sucesso do Shell definidos: UX, performance, redução de legado e adoção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3712464"/>
            <a:ext cx="5074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rollout, rollback e feature flags aprovada como parte da arquitetura operacional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4599432"/>
            <a:ext cx="5074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homologadas: versão Angular, bibliotecas e convenções publicadas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6035040"/>
            <a:ext cx="5394960" cy="658368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6108192"/>
            <a:ext cx="5074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direção única para a migração, com arquitetura, tecnologia, métricas e estratégia de rollout aprovadas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5349240" cy="49194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005840"/>
            <a:ext cx="5349240" cy="347472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042416"/>
            <a:ext cx="1463040" cy="274320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0424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73952" y="1463040"/>
            <a:ext cx="50932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Técnica do Shell Pronta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1938528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do Shell criado e convenções publicadas no Confluence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73952" y="2542032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 quality gates ativos: lint, build, testes automatizados mínimos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73952" y="3145536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integrada ao Shell e permissionamento configurado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73952" y="37490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roteamento, tratamento de erros e scaffolding definidos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73952" y="4352544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toggles com naming convention, ownership e regras explícitas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73952" y="4956048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técnico com Compodoc e padrão de fallback documentado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6035040"/>
            <a:ext cx="5394960" cy="658368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6108192"/>
            <a:ext cx="5074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Shell preparado para desenvolvimento real — repo, ambientes, pipeline, auth e feature toggle ativos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Design System   ·   M4 · Shell em Produção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1274552" cy="54864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Design System   ·   M4 · Shell em Produção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49240" cy="49194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349240" cy="347472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42416"/>
            <a:ext cx="1463040" cy="274320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424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463040"/>
            <a:ext cx="50932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Inicial Disponível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938528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definidos: cores, ícones, tipografia e grid publicados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871216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base disponíveis e reutilizáveis entre telas do Shell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803904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ao look &amp; feel do produto e identidade visual existente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4736592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interno com Storybook disponível em URL interna acessível pelo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035040"/>
            <a:ext cx="5394960" cy="658368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6108192"/>
            <a:ext cx="5074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base visual e técnica comum criada — mais consistência na experiência e velocidade para novas entregas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5349240" cy="49194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005840"/>
            <a:ext cx="5349240" cy="347472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042416"/>
            <a:ext cx="1463040" cy="274320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0424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73952" y="1463040"/>
            <a:ext cx="50932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em Produção Convivendo com Legado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1938528"/>
            <a:ext cx="50749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tela legada renderizada dentro do Shell via iframe com autenticação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73952" y="2688336"/>
            <a:ext cx="50749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integração via iframe definida e validada internamente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73952" y="3438144"/>
            <a:ext cx="50749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controlado do Shell em produção com blue/green e feature flags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73952" y="4187952"/>
            <a:ext cx="50749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sendo monitorado: métricas de saúde e observabilidade ativos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73952" y="4937760"/>
            <a:ext cx="50749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operacional testado e plano de contingência documentado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6035040"/>
            <a:ext cx="5394960" cy="658368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6108192"/>
            <a:ext cx="5074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Shell publicado em produção com legado integrado via iframe, rollout controlado e monitoramento ativo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Telas Nativas   ·   M6 · Estratégia Formalizada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1274552" cy="54864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Telas Nativas   ·   M6 · Estratégia Formalizada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49240" cy="49194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349240" cy="347472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042416"/>
            <a:ext cx="1463040" cy="274320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424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463040"/>
            <a:ext cx="50932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Telas Nativas Entregues no Shell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938528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migração por tela/jornada definida com critério de descontinuação do legado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2697480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tela nativa entregue no Shell usando arquitetura vertical e Design System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345643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AngularJS em redução controlada por jornada, com critério de descontinuação publicado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4215384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Esteira de novas telas estabilizada com padrão de qualidade e quality gates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" y="4974336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produtividade e estabilidade comparadas e publicadas para o time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035040"/>
            <a:ext cx="5394960" cy="658368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6108192"/>
            <a:ext cx="5074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primeiras jornadas nativas em Angular moderno entregues — início real da redução do AngularJS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005840"/>
            <a:ext cx="5349240" cy="4919472"/>
          </a:xfrm>
          <a:prstGeom prst="rect">
            <a:avLst/>
          </a:prstGeom>
          <a:solidFill>
            <a:srgbClr val="FFFFFF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005840"/>
            <a:ext cx="5349240" cy="347472"/>
          </a:xfrm>
          <a:prstGeom prst="rect">
            <a:avLst/>
          </a:prstGeom>
          <a:solidFill>
            <a:srgbClr val="FEF0E3"/>
          </a:solidFill>
          <a:ln w="9525">
            <a:solidFill>
              <a:srgbClr val="FEF0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042416"/>
            <a:ext cx="1463040" cy="274320"/>
          </a:xfrm>
          <a:prstGeom prst="rect">
            <a:avLst/>
          </a:prstGeom>
          <a:solidFill>
            <a:srgbClr val="FEF0E3"/>
          </a:solidFill>
          <a:ln w="9525">
            <a:solidFill>
              <a:srgbClr val="FEF0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0424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·  FUTURO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3952" y="1463040"/>
            <a:ext cx="509320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Microfrontend Formalizada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1938528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e gatilhos para adoção de Nx e/ou microfrontend avaliados com base em evidência coletada nas fases anteriores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73952" y="2871216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reunidas: fronteiras de domínio, cadência de deploy, autonomia real de cada time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73952" y="3803904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gradual de novas tecnologias (Nx, Native Federation) apenas se critérios forem atingidos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73952" y="4736592"/>
            <a:ext cx="50749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 </a:t>
            </a:r>
            <a:pPr algn="l" indent="0" marL="0">
              <a:buNone/>
            </a:pPr>
            <a:r>
              <a:rPr lang="en-US" sz="11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redução do AngularJS revisado com novas metas quantitativas para o próximo ciclo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6035040"/>
            <a:ext cx="5394960" cy="658368"/>
          </a:xfrm>
          <a:prstGeom prst="rect">
            <a:avLst/>
          </a:prstGeom>
          <a:solidFill>
            <a:srgbClr val="FEF0E3"/>
          </a:solidFill>
          <a:ln w="9525">
            <a:solidFill>
              <a:srgbClr val="FEF0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6108192"/>
            <a:ext cx="5074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maturidade para evoluir sem overengineering — decisão sobre microfrontend baseada em evidência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Estratégia em Uma Linha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1274552" cy="54864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Estratégia em Uma Linha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29968" y="987552"/>
            <a:ext cx="804672" cy="80467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9875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domínios, definir fronteiras e construir a fundação técnica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77640" y="1207008"/>
            <a:ext cx="384048" cy="292608"/>
          </a:xfrm>
          <a:prstGeom prst="rightArrow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15584" y="987552"/>
            <a:ext cx="804672" cy="804672"/>
          </a:xfrm>
          <a:prstGeom prst="ellipse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5584" y="9875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242816" y="1938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42816" y="23957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em produção, legado integrado com segurança e novas telas nativas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63256" y="1207008"/>
            <a:ext cx="384048" cy="292608"/>
          </a:xfrm>
          <a:prstGeom prst="rightArrow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0" y="987552"/>
            <a:ext cx="804672" cy="804672"/>
          </a:xfrm>
          <a:prstGeom prst="ellipse">
            <a:avLst/>
          </a:prstGeom>
          <a:solidFill>
            <a:srgbClr val="C4610A"/>
          </a:solidFill>
          <a:ln w="12700">
            <a:solidFill>
              <a:srgbClr val="C461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0" y="9875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028432" y="1938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28432" y="23957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evidência real coletada nas fases anteriores — modular ou microfrontend?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11274552" cy="36576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958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GUIA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913632"/>
            <a:ext cx="112745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Não decidir antes de aprender. </a:t>
            </a:r>
            <a:pPr algn="l"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Cada milestone reduz incerteza antes de exigir a próxima decisão arquitetural.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112745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Microfrontend é destino, não ponto de partida. </a:t>
            </a:r>
            <a:pPr algn="l"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 modularização habilita a escolha sem obrigá-la.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5047488"/>
            <a:ext cx="112745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Rollout incremental. </a:t>
            </a:r>
            <a:pPr algn="l"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Feature flags e blue/green permitem avançar sem arriscar produção.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5614416"/>
            <a:ext cx="112745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Evidência, não especulação. </a:t>
            </a:r>
            <a:pPr algn="l"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 M6 só decide sobre microfrontend com dados reais das fases anteriores.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B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 de Sucesso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"/>
            <a:ext cx="10680192" cy="45720"/>
          </a:xfrm>
          <a:prstGeom prst="rect">
            <a:avLst/>
          </a:prstGeom>
          <a:solidFill>
            <a:srgbClr val="0C4E54"/>
          </a:solidFill>
          <a:ln w="9525">
            <a:solidFill>
              <a:srgbClr val="0C4E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 de Sucesso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Shell funcional  </a:t>
            </a:r>
            <a:pPr algn="l" indent="0" marL="0">
              <a:buNone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Operando como nova camada de experiência e governança da aplicação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5166360" cy="0"/>
          </a:xfrm>
          <a:prstGeom prst="line">
            <a:avLst/>
          </a:prstGeom>
          <a:noFill/>
          <a:ln w="6350">
            <a:solidFill>
              <a:srgbClr val="3938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960120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Legado integrado  </a:t>
            </a:r>
            <a:pPr algn="l" indent="0" marL="0">
              <a:buNone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Renderizado com segurança e convivendo de forma controlada via iframe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166360" cy="0"/>
          </a:xfrm>
          <a:prstGeom prst="line">
            <a:avLst/>
          </a:prstGeom>
          <a:noFill/>
          <a:ln w="6350">
            <a:solidFill>
              <a:srgbClr val="3938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0136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Novas features em Angular moderno  </a:t>
            </a:r>
            <a:pPr algn="l" indent="0" marL="0">
              <a:buNone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modular vertical (data-access, feature, ui) como padrão de entrega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532888"/>
            <a:ext cx="5166360" cy="0"/>
          </a:xfrm>
          <a:prstGeom prst="line">
            <a:avLst/>
          </a:prstGeom>
          <a:noFill/>
          <a:ln w="6350">
            <a:solidFill>
              <a:srgbClr val="3938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0136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Design System adotado  </a:t>
            </a:r>
            <a:pPr algn="l" indent="0" marL="0">
              <a:buNone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componentes base e Storybook utilizados nas novas entregas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532888"/>
            <a:ext cx="5166360" cy="0"/>
          </a:xfrm>
          <a:prstGeom prst="line">
            <a:avLst/>
          </a:prstGeom>
          <a:noFill/>
          <a:ln w="6350">
            <a:solidFill>
              <a:srgbClr val="3938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42616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Padrão e qualidade  </a:t>
            </a:r>
            <a:pPr algn="l" indent="0" marL="0">
              <a:buNone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Convenções publicadas, quality gates no CI e Sheriff enforçando fronteiras de módulos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374136"/>
            <a:ext cx="5166360" cy="0"/>
          </a:xfrm>
          <a:prstGeom prst="line">
            <a:avLst/>
          </a:prstGeom>
          <a:noFill/>
          <a:ln w="6350">
            <a:solidFill>
              <a:srgbClr val="3938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642616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Rollout seguro  </a:t>
            </a:r>
            <a:pPr algn="l" indent="0" marL="0">
              <a:buNone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e rollback operacional permitindo entregas incrementais com risco controlado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3374136"/>
            <a:ext cx="5166360" cy="0"/>
          </a:xfrm>
          <a:prstGeom prst="line">
            <a:avLst/>
          </a:prstGeom>
          <a:noFill/>
          <a:ln w="6350">
            <a:solidFill>
              <a:srgbClr val="3938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83864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Observabilidade ativa  </a:t>
            </a:r>
            <a:pPr algn="l" indent="0" marL="0">
              <a:buNone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saúde, performance e produtividade monitoradas em produção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483864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AngularJS em redução  </a:t>
            </a:r>
            <a:pPr algn="l" indent="0" marL="0">
              <a:buNone/>
            </a:pPr>
            <a:r>
              <a:rPr lang="en-US" sz="12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diminuindo de forma pragmática e contínua por jornada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6473952"/>
            <a:ext cx="10680192" cy="36576"/>
          </a:xfrm>
          <a:prstGeom prst="rect">
            <a:avLst/>
          </a:prstGeom>
          <a:solidFill>
            <a:srgbClr val="0C4E54"/>
          </a:solidFill>
          <a:ln w="9525">
            <a:solidFill>
              <a:srgbClr val="0C4E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528816"/>
            <a:ext cx="1068019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9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· Estabilizar · Decidir com evidência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Sucesso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como camada de governança  ·  Módulos nativos Angular  ·  Legado via iframe controlado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554480" cy="256032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/ Nativos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94560" y="960120"/>
            <a:ext cx="1554480" cy="256032"/>
          </a:xfrm>
          <a:prstGeom prst="rect">
            <a:avLst/>
          </a:prstGeom>
          <a:solidFill>
            <a:srgbClr val="C4610A"/>
          </a:solidFill>
          <a:ln w="9525">
            <a:solidFill>
              <a:srgbClr val="C46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960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/ iframe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931920" y="960120"/>
            <a:ext cx="1554480" cy="256032"/>
          </a:xfrm>
          <a:prstGeom prst="rect">
            <a:avLst/>
          </a:prstGeom>
          <a:solidFill>
            <a:srgbClr val="D4D1CA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960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transversais</a:t>
            </a:r>
            <a:endParaRPr lang="en-US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11274552" cy="5166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656832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microfrontend.dev</a:t>
            </a:r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ByteByteGo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Saindo daqui → Microfrontend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módulos bem isolados para deploys independentes via Module Federation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645920" cy="256032"/>
          </a:xfrm>
          <a:prstGeom prst="rect">
            <a:avLst/>
          </a:prstGeom>
          <a:solidFill>
            <a:srgbClr val="01696F"/>
          </a:solidFill>
          <a:ln w="9525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Host + Shared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77440" y="960120"/>
            <a:ext cx="1645920" cy="256032"/>
          </a:xfrm>
          <a:prstGeom prst="rect">
            <a:avLst/>
          </a:prstGeom>
          <a:solidFill>
            <a:srgbClr val="E0F2F2"/>
          </a:solidFill>
          <a:ln w="9525">
            <a:solidFill>
              <a:srgbClr val="E0F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960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MFEs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0" y="960120"/>
            <a:ext cx="1645920" cy="256032"/>
          </a:xfrm>
          <a:prstGeom prst="rect">
            <a:avLst/>
          </a:prstGeom>
          <a:solidFill>
            <a:srgbClr val="FEF0E3"/>
          </a:solidFill>
          <a:ln w="9525">
            <a:solidFill>
              <a:srgbClr val="FEF0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960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migrado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52160" y="960120"/>
            <a:ext cx="1645920" cy="256032"/>
          </a:xfrm>
          <a:prstGeom prst="rect">
            <a:avLst/>
          </a:prstGeom>
          <a:solidFill>
            <a:srgbClr val="D4D1CA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960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Contratos</a:t>
            </a:r>
            <a:endParaRPr lang="en-US" sz="8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98448"/>
            <a:ext cx="11274552" cy="4937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138160" y="6291072"/>
            <a:ext cx="3474720" cy="475488"/>
          </a:xfrm>
          <a:prstGeom prst="rect">
            <a:avLst/>
          </a:prstGeom>
          <a:solidFill>
            <a:srgbClr val="FEF0E3"/>
          </a:solidFill>
          <a:ln w="9525">
            <a:solidFill>
              <a:srgbClr val="C461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56448" y="6309360"/>
            <a:ext cx="3438144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Diferencial-chave: </a:t>
            </a:r>
            <a:pPr indent="0" marL="0">
              <a:buNone/>
            </a:pPr>
            <a:r>
              <a:rPr lang="en-US" sz="8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MFE tem seu próprio ciclo de deploy, sem coordenar com outros times.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6656832"/>
            <a:ext cx="11274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micro-frontends.org</a:t>
            </a:r>
            <a:pPr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00" u="sng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microfrontend.dev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2026-04-09T04:20:06Z</dcterms:created>
  <dcterms:modified xsi:type="dcterms:W3CDTF">2026-04-09T04:20:06Z</dcterms:modified>
</cp:coreProperties>
</file>