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4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0"/>
            <a:ext cx="6429375" cy="564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357313" y="0"/>
            <a:ext cx="6429375" cy="42863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1928813" y="571500"/>
            <a:ext cx="5286375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Transformação </a:t>
            </a: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Angular:</a:t>
            </a: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Legado à </a:t>
            </a: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928813" y="2937421"/>
            <a:ext cx="52863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jornada de modernização controlada e sustentável</a:t>
            </a:r>
            <a:endParaRPr lang="en-US" sz="170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417753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57425" y="4156100"/>
            <a:ext cx="3643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2678906" y="4156100"/>
            <a:ext cx="12590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de Abril de 2026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3" y="4506144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57425" y="4484712"/>
            <a:ext cx="442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Prazo: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2757488" y="4484712"/>
            <a:ext cx="16769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meses (até 8 de Julho)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813" y="4834756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57425" y="4813325"/>
            <a:ext cx="6232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2937867" y="4813325"/>
            <a:ext cx="33272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como camada de experiência e governança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262711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End State de Sucesso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942975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visão final da nossa transformação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28625" y="1264444"/>
            <a:ext cx="1985963" cy="1205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26444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31" y="1378744"/>
            <a:ext cx="28575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9220" y="1750219"/>
            <a:ext cx="104477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Funcional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622399" y="1993106"/>
            <a:ext cx="159841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central em produção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2528888" y="1264444"/>
            <a:ext cx="1985963" cy="1205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2528888" y="126444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994" y="1378744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00375" y="1750219"/>
            <a:ext cx="10429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Legado Seguro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2643188" y="1993106"/>
            <a:ext cx="17573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Convivência controlada via iframe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4629150" y="1264444"/>
            <a:ext cx="1985963" cy="1162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629150" y="126444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256" y="1378744"/>
            <a:ext cx="285750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85457" y="1750219"/>
            <a:ext cx="10733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Features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4868466" y="1993106"/>
            <a:ext cx="15073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moderno e modular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6729413" y="1264444"/>
            <a:ext cx="1985963" cy="1162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6729413" y="126444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519" y="1378744"/>
            <a:ext cx="285750" cy="2857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06258" y="1750219"/>
            <a:ext cx="10322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987" dirty="0"/>
          </a:p>
        </p:txBody>
      </p:sp>
      <p:sp>
        <p:nvSpPr>
          <p:cNvPr id="26" name="Text 19"/>
          <p:cNvSpPr/>
          <p:nvPr/>
        </p:nvSpPr>
        <p:spPr>
          <a:xfrm>
            <a:off x="6917829" y="1993106"/>
            <a:ext cx="160913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visual e técnica adotada</a:t>
            </a:r>
            <a:endParaRPr lang="en-US" sz="834" dirty="0"/>
          </a:p>
        </p:txBody>
      </p:sp>
      <p:sp>
        <p:nvSpPr>
          <p:cNvPr id="27" name="Shape 20"/>
          <p:cNvSpPr/>
          <p:nvPr/>
        </p:nvSpPr>
        <p:spPr>
          <a:xfrm>
            <a:off x="428625" y="2541724"/>
            <a:ext cx="1985963" cy="1205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428625" y="254172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013" y="2656024"/>
            <a:ext cx="357188" cy="2857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6687" y="3027499"/>
            <a:ext cx="15698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Estabelecidos</a:t>
            </a:r>
            <a:endParaRPr lang="en-US" sz="987" dirty="0"/>
          </a:p>
        </p:txBody>
      </p:sp>
      <p:sp>
        <p:nvSpPr>
          <p:cNvPr id="31" name="Text 23"/>
          <p:cNvSpPr/>
          <p:nvPr/>
        </p:nvSpPr>
        <p:spPr>
          <a:xfrm>
            <a:off x="817066" y="3270386"/>
            <a:ext cx="120908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e quality gates</a:t>
            </a:r>
            <a:endParaRPr lang="en-US" sz="834" dirty="0"/>
          </a:p>
        </p:txBody>
      </p:sp>
      <p:sp>
        <p:nvSpPr>
          <p:cNvPr id="32" name="Shape 24"/>
          <p:cNvSpPr/>
          <p:nvPr/>
        </p:nvSpPr>
        <p:spPr>
          <a:xfrm>
            <a:off x="2528888" y="2541724"/>
            <a:ext cx="1985963" cy="1205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5"/>
          <p:cNvSpPr/>
          <p:nvPr/>
        </p:nvSpPr>
        <p:spPr>
          <a:xfrm>
            <a:off x="2528888" y="254172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134" y="2656024"/>
            <a:ext cx="321469" cy="2857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913757" y="3027499"/>
            <a:ext cx="121622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 Seguras</a:t>
            </a:r>
            <a:endParaRPr lang="en-US" sz="987" dirty="0"/>
          </a:p>
        </p:txBody>
      </p:sp>
      <p:sp>
        <p:nvSpPr>
          <p:cNvPr id="36" name="Text 27"/>
          <p:cNvSpPr/>
          <p:nvPr/>
        </p:nvSpPr>
        <p:spPr>
          <a:xfrm>
            <a:off x="2930723" y="3270386"/>
            <a:ext cx="11822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e feature flags</a:t>
            </a:r>
            <a:endParaRPr lang="en-US" sz="834" dirty="0"/>
          </a:p>
        </p:txBody>
      </p:sp>
      <p:sp>
        <p:nvSpPr>
          <p:cNvPr id="37" name="Shape 28"/>
          <p:cNvSpPr/>
          <p:nvPr/>
        </p:nvSpPr>
        <p:spPr>
          <a:xfrm>
            <a:off x="4629150" y="2541724"/>
            <a:ext cx="1985963" cy="1205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9"/>
          <p:cNvSpPr/>
          <p:nvPr/>
        </p:nvSpPr>
        <p:spPr>
          <a:xfrm>
            <a:off x="4629150" y="254172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9256" y="2656024"/>
            <a:ext cx="285750" cy="28575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056882" y="3027499"/>
            <a:ext cx="113049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Observabilidade</a:t>
            </a:r>
            <a:endParaRPr lang="en-US" sz="987" dirty="0"/>
          </a:p>
        </p:txBody>
      </p:sp>
      <p:sp>
        <p:nvSpPr>
          <p:cNvPr id="41" name="Text 31"/>
          <p:cNvSpPr/>
          <p:nvPr/>
        </p:nvSpPr>
        <p:spPr>
          <a:xfrm>
            <a:off x="5016698" y="3270386"/>
            <a:ext cx="1210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visibilidade</a:t>
            </a:r>
            <a:endParaRPr lang="en-US" sz="834" dirty="0"/>
          </a:p>
        </p:txBody>
      </p:sp>
      <p:sp>
        <p:nvSpPr>
          <p:cNvPr id="42" name="Shape 32"/>
          <p:cNvSpPr/>
          <p:nvPr/>
        </p:nvSpPr>
        <p:spPr>
          <a:xfrm>
            <a:off x="6729413" y="2541724"/>
            <a:ext cx="1985963" cy="1205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3"/>
          <p:cNvSpPr/>
          <p:nvPr/>
        </p:nvSpPr>
        <p:spPr>
          <a:xfrm>
            <a:off x="6729413" y="2541724"/>
            <a:ext cx="1985963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9519" y="2656024"/>
            <a:ext cx="285750" cy="2857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008019" y="3027499"/>
            <a:ext cx="14287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Pragmática</a:t>
            </a:r>
            <a:endParaRPr lang="en-US" sz="987" dirty="0"/>
          </a:p>
        </p:txBody>
      </p:sp>
      <p:sp>
        <p:nvSpPr>
          <p:cNvPr id="46" name="Text 35"/>
          <p:cNvSpPr/>
          <p:nvPr/>
        </p:nvSpPr>
        <p:spPr>
          <a:xfrm>
            <a:off x="6843713" y="3270386"/>
            <a:ext cx="17573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dependência do AngularJS</a:t>
            </a:r>
            <a:endParaRPr lang="en-US" sz="834" dirty="0"/>
          </a:p>
        </p:txBody>
      </p:sp>
      <p:sp>
        <p:nvSpPr>
          <p:cNvPr id="47" name="Shape 36"/>
          <p:cNvSpPr/>
          <p:nvPr/>
        </p:nvSpPr>
        <p:spPr>
          <a:xfrm>
            <a:off x="428625" y="3819004"/>
            <a:ext cx="8286750" cy="691493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021875"/>
            <a:ext cx="321469" cy="28575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78694" y="3904729"/>
            <a:ext cx="7622381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77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organização </a:t>
            </a:r>
            <a:r>
              <a:rPr lang="en-US" sz="129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madura, governada e preparada</a:t>
            </a:r>
            <a:r>
              <a:rPr lang="en-US" sz="1377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evoluir sem débito técnico </a:t>
            </a:r>
            <a:r>
              <a:rPr lang="en-US" sz="1377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acumulado</a:t>
            </a:r>
            <a:endParaRPr lang="en-US" sz="137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447734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Será o Shell - Adequação de Telas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285750" y="942975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visual da convivência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285750" y="1235869"/>
            <a:ext cx="8572500" cy="3305770"/>
          </a:xfrm>
          <a:prstGeom prst="rect">
            <a:avLst/>
          </a:prstGeom>
          <a:solidFill>
            <a:srgbClr val="FFFFFF"/>
          </a:solidFill>
          <a:ln w="27432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235869"/>
            <a:ext cx="8572500" cy="38397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6420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7225" y="1350169"/>
            <a:ext cx="4054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</a:t>
            </a:r>
            <a:endParaRPr lang="en-US" sz="88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508" y="1356420"/>
            <a:ext cx="12501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7673" y="1350169"/>
            <a:ext cx="8268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endParaRPr lang="en-US" sz="88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438" y="1356420"/>
            <a:ext cx="16073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75322" y="1350169"/>
            <a:ext cx="8376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Flags</a:t>
            </a:r>
            <a:endParaRPr lang="en-US" sz="88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761" y="1356420"/>
            <a:ext cx="125016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84927" y="1350169"/>
            <a:ext cx="7018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Navegação</a:t>
            </a:r>
            <a:endParaRPr lang="en-US" sz="885" dirty="0"/>
          </a:p>
        </p:txBody>
      </p:sp>
      <p:sp>
        <p:nvSpPr>
          <p:cNvPr id="17" name="Shape 10"/>
          <p:cNvSpPr/>
          <p:nvPr/>
        </p:nvSpPr>
        <p:spPr>
          <a:xfrm>
            <a:off x="285750" y="1619845"/>
            <a:ext cx="8572500" cy="2612827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1"/>
          <p:cNvSpPr/>
          <p:nvPr/>
        </p:nvSpPr>
        <p:spPr>
          <a:xfrm>
            <a:off x="400050" y="1734145"/>
            <a:ext cx="4114800" cy="2384227"/>
          </a:xfrm>
          <a:prstGeom prst="rect">
            <a:avLst/>
          </a:prstGeom>
          <a:solidFill>
            <a:srgbClr val="FFFFFF"/>
          </a:solidFill>
          <a:ln w="18288">
            <a:solidFill>
              <a:srgbClr val="F59E0B"/>
            </a:solidFill>
            <a:prstDash val="dash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1713" y="2457283"/>
            <a:ext cx="357188" cy="285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167235" y="2828758"/>
            <a:ext cx="56614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Legado</a:t>
            </a:r>
            <a:endParaRPr lang="en-US" sz="1090" dirty="0"/>
          </a:p>
        </p:txBody>
      </p:sp>
      <p:sp>
        <p:nvSpPr>
          <p:cNvPr id="21" name="Text 13"/>
          <p:cNvSpPr/>
          <p:nvPr/>
        </p:nvSpPr>
        <p:spPr>
          <a:xfrm>
            <a:off x="1891308" y="3075217"/>
            <a:ext cx="111799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AngularJS via iframe</a:t>
            </a: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Isolado e seguro</a:t>
            </a:r>
            <a:endParaRPr lang="en-US" sz="834" dirty="0"/>
          </a:p>
        </p:txBody>
      </p:sp>
      <p:sp>
        <p:nvSpPr>
          <p:cNvPr id="22" name="Shape 14"/>
          <p:cNvSpPr/>
          <p:nvPr/>
        </p:nvSpPr>
        <p:spPr>
          <a:xfrm>
            <a:off x="4614863" y="1734145"/>
            <a:ext cx="4129088" cy="2384227"/>
          </a:xfrm>
          <a:prstGeom prst="rect">
            <a:avLst/>
          </a:prstGeom>
          <a:solidFill>
            <a:srgbClr val="FFFFFF"/>
          </a:solidFill>
          <a:ln w="18288">
            <a:solidFill>
              <a:srgbClr val="10B981"/>
            </a:solidFill>
            <a:prstDash val="dash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457283"/>
            <a:ext cx="285750" cy="2857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095405" y="2828758"/>
            <a:ext cx="11822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Features</a:t>
            </a:r>
            <a:endParaRPr lang="en-US" sz="1090" dirty="0"/>
          </a:p>
        </p:txBody>
      </p:sp>
      <p:sp>
        <p:nvSpPr>
          <p:cNvPr id="25" name="Text 16"/>
          <p:cNvSpPr/>
          <p:nvPr/>
        </p:nvSpPr>
        <p:spPr>
          <a:xfrm>
            <a:off x="6029325" y="3075217"/>
            <a:ext cx="13144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moderno</a:t>
            </a: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vertical slice</a:t>
            </a:r>
            <a:endParaRPr lang="en-US" sz="834" dirty="0"/>
          </a:p>
        </p:txBody>
      </p:sp>
      <p:sp>
        <p:nvSpPr>
          <p:cNvPr id="26" name="Shape 17"/>
          <p:cNvSpPr/>
          <p:nvPr/>
        </p:nvSpPr>
        <p:spPr>
          <a:xfrm>
            <a:off x="285750" y="4232672"/>
            <a:ext cx="8572500" cy="308967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4911" y="4322862"/>
            <a:ext cx="128588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330648" y="4318397"/>
            <a:ext cx="9072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Observabilidade</a:t>
            </a:r>
            <a:endParaRPr lang="en-US" sz="784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3655" y="4322862"/>
            <a:ext cx="128588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709392" y="4318397"/>
            <a:ext cx="4732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</a:t>
            </a:r>
            <a:endParaRPr lang="en-US" sz="784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8416" y="4322862"/>
            <a:ext cx="128588" cy="12858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654153" y="4318397"/>
            <a:ext cx="8286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784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8578" y="4322862"/>
            <a:ext cx="128588" cy="12858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954316" y="4318397"/>
            <a:ext cx="10447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de Código</a:t>
            </a:r>
            <a:endParaRPr lang="en-US" sz="784" dirty="0"/>
          </a:p>
        </p:txBody>
      </p:sp>
      <p:sp>
        <p:nvSpPr>
          <p:cNvPr id="35" name="Shape 22"/>
          <p:cNvSpPr/>
          <p:nvPr/>
        </p:nvSpPr>
        <p:spPr>
          <a:xfrm>
            <a:off x="285750" y="4713089"/>
            <a:ext cx="8572500" cy="344686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36" name="Shape 23"/>
          <p:cNvSpPr/>
          <p:nvPr/>
        </p:nvSpPr>
        <p:spPr>
          <a:xfrm>
            <a:off x="285750" y="4713089"/>
            <a:ext cx="42863" cy="34468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24"/>
          <p:cNvSpPr/>
          <p:nvPr/>
        </p:nvSpPr>
        <p:spPr>
          <a:xfrm>
            <a:off x="428625" y="4798814"/>
            <a:ext cx="8286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r>
              <a:rPr lang="en-US" sz="10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Transição segura e controlada com convivência clara entre legado e novo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181629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Real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171450" y="1028700"/>
            <a:ext cx="3451854" cy="1965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71450" y="1028700"/>
            <a:ext cx="42863" cy="196592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42900" y="1200150"/>
            <a:ext cx="3108954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apenas tecnológico...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42900" y="1611613"/>
            <a:ext cx="3108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situação atual da aplicação apresenta desafios que vão além do código, impactando diretamente a capacidade de entrega e a governança do projeto.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1450" y="2868913"/>
            <a:ext cx="3451854" cy="1007269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Text 8"/>
          <p:cNvSpPr/>
          <p:nvPr/>
        </p:nvSpPr>
        <p:spPr>
          <a:xfrm>
            <a:off x="314325" y="3011788"/>
            <a:ext cx="316610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Consequência Direta:</a:t>
            </a:r>
            <a:endParaRPr lang="en-US" sz="119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3338615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638" y="3324327"/>
            <a:ext cx="28039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 reduzida, risco aumentado e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314325" y="3538640"/>
            <a:ext cx="14376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congelada.</a:t>
            </a:r>
            <a:endParaRPr lang="en-US" sz="987" dirty="0"/>
          </a:p>
        </p:txBody>
      </p:sp>
      <p:sp>
        <p:nvSpPr>
          <p:cNvPr id="15" name="Shape 11"/>
          <p:cNvSpPr/>
          <p:nvPr/>
        </p:nvSpPr>
        <p:spPr>
          <a:xfrm>
            <a:off x="3794754" y="1028700"/>
            <a:ext cx="51777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3794754" y="1028700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629" y="1171575"/>
            <a:ext cx="2857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37679" y="1157288"/>
            <a:ext cx="30432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Legado em AngularJS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alto acoplamento</a:t>
            </a:r>
            <a:endParaRPr lang="en-US" sz="987" dirty="0"/>
          </a:p>
        </p:txBody>
      </p:sp>
      <p:sp>
        <p:nvSpPr>
          <p:cNvPr id="19" name="Shape 14"/>
          <p:cNvSpPr/>
          <p:nvPr/>
        </p:nvSpPr>
        <p:spPr>
          <a:xfrm>
            <a:off x="3794754" y="1571625"/>
            <a:ext cx="51777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3794754" y="1571625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629" y="1714500"/>
            <a:ext cx="2857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37679" y="1700213"/>
            <a:ext cx="30271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padrão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código e arquitetura</a:t>
            </a:r>
            <a:endParaRPr lang="en-US" sz="987" dirty="0"/>
          </a:p>
        </p:txBody>
      </p:sp>
      <p:sp>
        <p:nvSpPr>
          <p:cNvPr id="23" name="Shape 17"/>
          <p:cNvSpPr/>
          <p:nvPr/>
        </p:nvSpPr>
        <p:spPr>
          <a:xfrm>
            <a:off x="3794754" y="2114550"/>
            <a:ext cx="51777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3794754" y="2114550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629" y="2257425"/>
            <a:ext cx="2857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37679" y="2243138"/>
            <a:ext cx="28449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previsibilidade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novas entregas</a:t>
            </a:r>
            <a:endParaRPr lang="en-US" sz="987" dirty="0"/>
          </a:p>
        </p:txBody>
      </p:sp>
      <p:sp>
        <p:nvSpPr>
          <p:cNvPr id="27" name="Shape 20"/>
          <p:cNvSpPr/>
          <p:nvPr/>
        </p:nvSpPr>
        <p:spPr>
          <a:xfrm>
            <a:off x="3794754" y="2657475"/>
            <a:ext cx="51777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3794754" y="2657475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629" y="2800350"/>
            <a:ext cx="285750" cy="1714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337679" y="2786063"/>
            <a:ext cx="40094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Dependência de especialistas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(você é o único em Angular)</a:t>
            </a:r>
            <a:endParaRPr lang="en-US" sz="987" dirty="0"/>
          </a:p>
        </p:txBody>
      </p:sp>
      <p:sp>
        <p:nvSpPr>
          <p:cNvPr id="31" name="Shape 23"/>
          <p:cNvSpPr/>
          <p:nvPr/>
        </p:nvSpPr>
        <p:spPr>
          <a:xfrm>
            <a:off x="3794754" y="3200400"/>
            <a:ext cx="51777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3794754" y="3200400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629" y="3343275"/>
            <a:ext cx="285750" cy="1714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337679" y="3328988"/>
            <a:ext cx="39237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times desalinhados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(consultoria, SSO, frontend)</a:t>
            </a:r>
            <a:endParaRPr lang="en-US" sz="987" dirty="0"/>
          </a:p>
        </p:txBody>
      </p:sp>
      <p:sp>
        <p:nvSpPr>
          <p:cNvPr id="35" name="Shape 26"/>
          <p:cNvSpPr/>
          <p:nvPr/>
        </p:nvSpPr>
        <p:spPr>
          <a:xfrm>
            <a:off x="3794754" y="3743325"/>
            <a:ext cx="51777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7"/>
          <p:cNvSpPr/>
          <p:nvPr/>
        </p:nvSpPr>
        <p:spPr>
          <a:xfrm>
            <a:off x="3794754" y="3743325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629" y="3886200"/>
            <a:ext cx="285750" cy="1714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337679" y="3871913"/>
            <a:ext cx="33539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Débito técnico acumulado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afetando performance</a:t>
            </a:r>
            <a:endParaRPr lang="en-US" sz="98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02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343614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Não Reescrever Tudo?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71563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armadilha do "big bang" e cenários que NÃO funcionam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28625" y="1564481"/>
            <a:ext cx="2619384" cy="2462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564481"/>
            <a:ext cx="2619384" cy="42863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28" y="1778794"/>
            <a:ext cx="28575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4955" y="2207419"/>
            <a:ext cx="21466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Reescrever tudo de uma vez</a:t>
            </a:r>
            <a:endParaRPr lang="en-US" sz="109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764631"/>
            <a:ext cx="62508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6883" y="2736056"/>
            <a:ext cx="205681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Congelamento de negócio por meses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161109"/>
            <a:ext cx="62508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6883" y="3132534"/>
            <a:ext cx="14519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extremo de falhas</a:t>
            </a:r>
            <a:endParaRPr lang="en-US" sz="942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402211"/>
            <a:ext cx="62508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6883" y="3373636"/>
            <a:ext cx="205681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Perda de conhecimento do legado</a:t>
            </a:r>
            <a:endParaRPr lang="en-US" sz="942" dirty="0"/>
          </a:p>
        </p:txBody>
      </p:sp>
      <p:sp>
        <p:nvSpPr>
          <p:cNvPr id="17" name="Shape 10"/>
          <p:cNvSpPr/>
          <p:nvPr/>
        </p:nvSpPr>
        <p:spPr>
          <a:xfrm>
            <a:off x="3262322" y="1564481"/>
            <a:ext cx="2619384" cy="24199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1"/>
          <p:cNvSpPr/>
          <p:nvPr/>
        </p:nvSpPr>
        <p:spPr>
          <a:xfrm>
            <a:off x="3262322" y="1564481"/>
            <a:ext cx="2619384" cy="42863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1778794"/>
            <a:ext cx="285750" cy="285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82603" y="2207419"/>
            <a:ext cx="17787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Microfrontends no dia 1</a:t>
            </a:r>
            <a:endParaRPr lang="en-US" sz="109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634" y="2764631"/>
            <a:ext cx="62508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610580" y="2736056"/>
            <a:ext cx="1526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prematura</a:t>
            </a:r>
            <a:endParaRPr lang="en-US" sz="942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34" y="3005733"/>
            <a:ext cx="62508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10580" y="2977158"/>
            <a:ext cx="16805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padrões estabelecidos</a:t>
            </a:r>
            <a:endParaRPr lang="en-US" sz="942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34" y="3246834"/>
            <a:ext cx="62508" cy="10001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10580" y="3218259"/>
            <a:ext cx="16698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Multiplicação de problemas</a:t>
            </a:r>
            <a:endParaRPr lang="en-US" sz="942" dirty="0"/>
          </a:p>
        </p:txBody>
      </p:sp>
      <p:sp>
        <p:nvSpPr>
          <p:cNvPr id="27" name="Shape 16"/>
          <p:cNvSpPr/>
          <p:nvPr/>
        </p:nvSpPr>
        <p:spPr>
          <a:xfrm>
            <a:off x="6096019" y="1564481"/>
            <a:ext cx="2619384" cy="24199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17"/>
          <p:cNvSpPr/>
          <p:nvPr/>
        </p:nvSpPr>
        <p:spPr>
          <a:xfrm>
            <a:off x="6096019" y="1564481"/>
            <a:ext cx="2619384" cy="42863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8541" y="1778794"/>
            <a:ext cx="214313" cy="2857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434147" y="2207419"/>
            <a:ext cx="1943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Continuar com AngularJS</a:t>
            </a:r>
            <a:endParaRPr lang="en-US" sz="109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0331" y="2764631"/>
            <a:ext cx="62508" cy="100013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444276" y="2736056"/>
            <a:ext cx="13233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Débito técnico cresce</a:t>
            </a:r>
            <a:endParaRPr lang="en-US" sz="942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331" y="3005733"/>
            <a:ext cx="62508" cy="100013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444276" y="2977158"/>
            <a:ext cx="144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Impossível atrair talento</a:t>
            </a:r>
            <a:endParaRPr lang="en-US" sz="942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331" y="3246834"/>
            <a:ext cx="62508" cy="100013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444276" y="3218259"/>
            <a:ext cx="1228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insustentável</a:t>
            </a:r>
            <a:endParaRPr lang="en-US" sz="942" dirty="0"/>
          </a:p>
        </p:txBody>
      </p:sp>
      <p:sp>
        <p:nvSpPr>
          <p:cNvPr id="37" name="Shape 22"/>
          <p:cNvSpPr/>
          <p:nvPr/>
        </p:nvSpPr>
        <p:spPr>
          <a:xfrm>
            <a:off x="428625" y="4214813"/>
            <a:ext cx="8286750" cy="71437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8" name="Shape 23"/>
          <p:cNvSpPr/>
          <p:nvPr/>
        </p:nvSpPr>
        <p:spPr>
          <a:xfrm>
            <a:off x="428625" y="4214813"/>
            <a:ext cx="57150" cy="7143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8047" y="4429125"/>
            <a:ext cx="285750" cy="28575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1975247" y="4450556"/>
            <a:ext cx="565070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Solução: Um caminho </a:t>
            </a:r>
            <a:r>
              <a:rPr lang="en-US" sz="139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controlado, incremental e validado</a:t>
            </a:r>
            <a:endParaRPr lang="en-US" sz="148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301823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 - Shell Plataform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28700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experiência e governança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28625" y="1450181"/>
            <a:ext cx="8286750" cy="2675334"/>
          </a:xfrm>
          <a:prstGeom prst="rect">
            <a:avLst/>
          </a:prstGeom>
          <a:solidFill>
            <a:srgbClr val="FFFFFF"/>
          </a:solidFill>
          <a:ln w="27432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450181"/>
            <a:ext cx="8286750" cy="43576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568053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564481"/>
            <a:ext cx="50238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(Angular 21+) - Camada de Experiência &amp; Governança</a:t>
            </a:r>
            <a:endParaRPr lang="en-US" sz="1193" dirty="0"/>
          </a:p>
        </p:txBody>
      </p:sp>
      <p:sp>
        <p:nvSpPr>
          <p:cNvPr id="11" name="Shape 7"/>
          <p:cNvSpPr/>
          <p:nvPr/>
        </p:nvSpPr>
        <p:spPr>
          <a:xfrm>
            <a:off x="428625" y="1885950"/>
            <a:ext cx="8286750" cy="179843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8"/>
          <p:cNvSpPr/>
          <p:nvPr/>
        </p:nvSpPr>
        <p:spPr>
          <a:xfrm>
            <a:off x="642938" y="2100263"/>
            <a:ext cx="3821906" cy="1369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42938" y="2100263"/>
            <a:ext cx="3821906" cy="4286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8" y="2280642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1563" y="2271713"/>
            <a:ext cx="19395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Features (Angular)</a:t>
            </a:r>
            <a:endParaRPr lang="en-US" sz="109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8" y="2603004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5838" y="2575322"/>
            <a:ext cx="18020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Modularizadas (Vertical Slice)</a:t>
            </a:r>
            <a:endParaRPr lang="en-US" sz="942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8" y="2829818"/>
            <a:ext cx="100013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5838" y="2802136"/>
            <a:ext cx="13858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padrão de código</a:t>
            </a:r>
            <a:endParaRPr lang="en-US" sz="942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8" y="3056632"/>
            <a:ext cx="100013" cy="1000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85838" y="3028950"/>
            <a:ext cx="24806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Escaláveis e performáticas (lazy loading)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4679156" y="2100263"/>
            <a:ext cx="3821906" cy="1369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5"/>
          <p:cNvSpPr/>
          <p:nvPr/>
        </p:nvSpPr>
        <p:spPr>
          <a:xfrm>
            <a:off x="4679156" y="2100263"/>
            <a:ext cx="3821906" cy="4286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606" y="2280642"/>
            <a:ext cx="214313" cy="1714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50644" y="2271713"/>
            <a:ext cx="23056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Legado (AngularJS em iframe)</a:t>
            </a:r>
            <a:endParaRPr lang="en-US" sz="109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606" y="2603004"/>
            <a:ext cx="100013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22056" y="2575322"/>
            <a:ext cx="14108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Isolado do novo código</a:t>
            </a:r>
            <a:endParaRPr lang="en-US" sz="942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2829818"/>
            <a:ext cx="87511" cy="10001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09555" y="2802136"/>
            <a:ext cx="13948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Seguro e sem conflitos</a:t>
            </a:r>
            <a:endParaRPr lang="en-US" sz="942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3056632"/>
            <a:ext cx="100013" cy="100013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022056" y="3028950"/>
            <a:ext cx="12733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Transição controlada</a:t>
            </a:r>
            <a:endParaRPr lang="en-US" sz="942" dirty="0"/>
          </a:p>
        </p:txBody>
      </p:sp>
      <p:sp>
        <p:nvSpPr>
          <p:cNvPr id="32" name="Shape 20"/>
          <p:cNvSpPr/>
          <p:nvPr/>
        </p:nvSpPr>
        <p:spPr>
          <a:xfrm>
            <a:off x="428625" y="3641527"/>
            <a:ext cx="8286750" cy="383977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7033" y="3769221"/>
            <a:ext cx="128588" cy="12858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177058" y="3755827"/>
            <a:ext cx="9322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885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95067" y="3769221"/>
            <a:ext cx="160734" cy="128588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7239" y="3769221"/>
            <a:ext cx="160734" cy="12858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3859411" y="3755827"/>
            <a:ext cx="11769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de Código</a:t>
            </a:r>
            <a:endParaRPr lang="en-US" sz="885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2094" y="3769221"/>
            <a:ext cx="128588" cy="12858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522119" y="3755827"/>
            <a:ext cx="1644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Centralizada</a:t>
            </a:r>
            <a:endParaRPr lang="en-US" sz="885" dirty="0"/>
          </a:p>
        </p:txBody>
      </p:sp>
      <p:sp>
        <p:nvSpPr>
          <p:cNvPr id="40" name="Shape 24"/>
          <p:cNvSpPr/>
          <p:nvPr/>
        </p:nvSpPr>
        <p:spPr>
          <a:xfrm>
            <a:off x="428625" y="4486275"/>
            <a:ext cx="8286750" cy="485775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41" name="Shape 25"/>
          <p:cNvSpPr/>
          <p:nvPr/>
        </p:nvSpPr>
        <p:spPr>
          <a:xfrm>
            <a:off x="428625" y="4486275"/>
            <a:ext cx="42863" cy="48577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798" y="4629150"/>
            <a:ext cx="225028" cy="200025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1292126" y="4634508"/>
            <a:ext cx="68990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Benefício Principal:</a:t>
            </a:r>
            <a:r>
              <a:rPr lang="en-US" sz="1159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Convivência segura do legado com evolução contínua de novas features</a:t>
            </a:r>
            <a:endParaRPr lang="en-US" sz="115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372368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Três Pilares da Transformação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285875"/>
            <a:ext cx="2571750" cy="114300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766" y="1571625"/>
            <a:ext cx="321469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4198" y="1971675"/>
            <a:ext cx="198060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Experiência Unificada</a:t>
            </a:r>
            <a:endParaRPr lang="en-US" sz="1193" dirty="0"/>
          </a:p>
        </p:txBody>
      </p:sp>
      <p:sp>
        <p:nvSpPr>
          <p:cNvPr id="9" name="Shape 5"/>
          <p:cNvSpPr/>
          <p:nvPr/>
        </p:nvSpPr>
        <p:spPr>
          <a:xfrm>
            <a:off x="428625" y="2428875"/>
            <a:ext cx="2571750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714375" y="2714625"/>
            <a:ext cx="2000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Shell como porta de entrada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714375" y="3217534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Navegação consistente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714375" y="3540426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centralizada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714375" y="3863318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único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3286125" y="1285875"/>
            <a:ext cx="2571750" cy="114300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06" y="1571625"/>
            <a:ext cx="357188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20988" y="1971675"/>
            <a:ext cx="1902023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Governança Técnica</a:t>
            </a:r>
            <a:endParaRPr lang="en-US" sz="1193" dirty="0"/>
          </a:p>
        </p:txBody>
      </p:sp>
      <p:sp>
        <p:nvSpPr>
          <p:cNvPr id="17" name="Shape 12"/>
          <p:cNvSpPr/>
          <p:nvPr/>
        </p:nvSpPr>
        <p:spPr>
          <a:xfrm>
            <a:off x="3286125" y="2428875"/>
            <a:ext cx="2571750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3571875" y="2714625"/>
            <a:ext cx="2000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de código obrigatórios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3571875" y="3217534"/>
            <a:ext cx="2000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modular (vertical slice)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3571875" y="3720443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 rigoroso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3571875" y="4043335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qualidade</a:t>
            </a:r>
            <a:endParaRPr lang="en-US" sz="942" dirty="0"/>
          </a:p>
        </p:txBody>
      </p:sp>
      <p:sp>
        <p:nvSpPr>
          <p:cNvPr id="22" name="Shape 17"/>
          <p:cNvSpPr/>
          <p:nvPr/>
        </p:nvSpPr>
        <p:spPr>
          <a:xfrm>
            <a:off x="6143625" y="1285875"/>
            <a:ext cx="2571750" cy="114300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1571625"/>
            <a:ext cx="285750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07931" y="1971675"/>
            <a:ext cx="2243138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Capacidade de Evolução</a:t>
            </a:r>
            <a:endParaRPr lang="en-US" sz="1193" dirty="0"/>
          </a:p>
        </p:txBody>
      </p:sp>
      <p:sp>
        <p:nvSpPr>
          <p:cNvPr id="25" name="Shape 19"/>
          <p:cNvSpPr/>
          <p:nvPr/>
        </p:nvSpPr>
        <p:spPr>
          <a:xfrm>
            <a:off x="6143625" y="2428875"/>
            <a:ext cx="2571750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0"/>
          <p:cNvSpPr/>
          <p:nvPr/>
        </p:nvSpPr>
        <p:spPr>
          <a:xfrm>
            <a:off x="6429375" y="2714625"/>
            <a:ext cx="2000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features nativas em Angular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6429375" y="3217534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controlada do legado</a:t>
            </a:r>
            <a:endParaRPr lang="en-US" sz="942" dirty="0"/>
          </a:p>
        </p:txBody>
      </p:sp>
      <p:sp>
        <p:nvSpPr>
          <p:cNvPr id="28" name="Text 22"/>
          <p:cNvSpPr/>
          <p:nvPr/>
        </p:nvSpPr>
        <p:spPr>
          <a:xfrm>
            <a:off x="6429375" y="3540426"/>
            <a:ext cx="2000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Preparado para microfrontends</a:t>
            </a:r>
            <a:endParaRPr lang="en-US" sz="942" dirty="0"/>
          </a:p>
        </p:txBody>
      </p:sp>
      <p:sp>
        <p:nvSpPr>
          <p:cNvPr id="29" name="Text 23"/>
          <p:cNvSpPr/>
          <p:nvPr/>
        </p:nvSpPr>
        <p:spPr>
          <a:xfrm>
            <a:off x="6429375" y="4043335"/>
            <a:ext cx="2000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capacitado e autônomo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30039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Jornada em 6 Milestones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285750" y="971550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milestone = Uma validação estratégica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28625" y="1414463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5775" y="1200150"/>
            <a:ext cx="171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2028825" y="1414463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72580" y="1200150"/>
            <a:ext cx="1982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3629025" y="1414463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71888" y="1200150"/>
            <a:ext cx="2000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229225" y="1414463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70302" y="1200150"/>
            <a:ext cx="2035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6829425" y="1414463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4073" y="1200150"/>
            <a:ext cx="1964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8429625" y="1414463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72488" y="1200150"/>
            <a:ext cx="2000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285750" y="1893094"/>
            <a:ext cx="28003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285750" y="1893094"/>
            <a:ext cx="280035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Shape 18"/>
          <p:cNvSpPr/>
          <p:nvPr/>
        </p:nvSpPr>
        <p:spPr>
          <a:xfrm>
            <a:off x="371475" y="1978819"/>
            <a:ext cx="296466" cy="194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Text 19"/>
          <p:cNvSpPr/>
          <p:nvPr/>
        </p:nvSpPr>
        <p:spPr>
          <a:xfrm>
            <a:off x="371475" y="1978819"/>
            <a:ext cx="296466" cy="194667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739378" y="1998994"/>
            <a:ext cx="901898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Definida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71475" y="2230636"/>
            <a:ext cx="2628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aprovada e métricas de sucesso estabelecidas.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3171825" y="1893094"/>
            <a:ext cx="28003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3171825" y="1893094"/>
            <a:ext cx="280035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Shape 24"/>
          <p:cNvSpPr/>
          <p:nvPr/>
        </p:nvSpPr>
        <p:spPr>
          <a:xfrm>
            <a:off x="3257550" y="1978819"/>
            <a:ext cx="319683" cy="194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8" name="Text 25"/>
          <p:cNvSpPr/>
          <p:nvPr/>
        </p:nvSpPr>
        <p:spPr>
          <a:xfrm>
            <a:off x="3257550" y="1978819"/>
            <a:ext cx="319683" cy="194667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3648670" y="1998994"/>
            <a:ext cx="1132284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Fundação Técnica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3257550" y="2230636"/>
            <a:ext cx="2628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Repositório, pipeline , padrões essenciais documentados e plano de rollout alinhado.</a:t>
            </a:r>
            <a:endParaRPr lang="en-US" sz="834" dirty="0"/>
          </a:p>
        </p:txBody>
      </p:sp>
      <p:sp>
        <p:nvSpPr>
          <p:cNvPr id="31" name="Shape 28"/>
          <p:cNvSpPr/>
          <p:nvPr/>
        </p:nvSpPr>
        <p:spPr>
          <a:xfrm>
            <a:off x="6057900" y="1893094"/>
            <a:ext cx="28003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6057900" y="1893094"/>
            <a:ext cx="280035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Shape 30"/>
          <p:cNvSpPr/>
          <p:nvPr/>
        </p:nvSpPr>
        <p:spPr>
          <a:xfrm>
            <a:off x="6143625" y="1978819"/>
            <a:ext cx="321469" cy="194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4" name="Text 31"/>
          <p:cNvSpPr/>
          <p:nvPr/>
        </p:nvSpPr>
        <p:spPr>
          <a:xfrm>
            <a:off x="6143625" y="1978819"/>
            <a:ext cx="321469" cy="194667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6536531" y="1998994"/>
            <a:ext cx="93225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6143625" y="2230636"/>
            <a:ext cx="2628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e componentes base com visualização em Storybook.</a:t>
            </a:r>
            <a:endParaRPr lang="en-US" sz="834" dirty="0"/>
          </a:p>
        </p:txBody>
      </p:sp>
      <p:sp>
        <p:nvSpPr>
          <p:cNvPr id="37" name="Shape 34"/>
          <p:cNvSpPr/>
          <p:nvPr/>
        </p:nvSpPr>
        <p:spPr>
          <a:xfrm>
            <a:off x="285750" y="2764631"/>
            <a:ext cx="28003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285750" y="2764631"/>
            <a:ext cx="28003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6"/>
          <p:cNvSpPr/>
          <p:nvPr/>
        </p:nvSpPr>
        <p:spPr>
          <a:xfrm>
            <a:off x="371475" y="2850356"/>
            <a:ext cx="325041" cy="194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0" name="Text 37"/>
          <p:cNvSpPr/>
          <p:nvPr/>
        </p:nvSpPr>
        <p:spPr>
          <a:xfrm>
            <a:off x="371475" y="2850356"/>
            <a:ext cx="325041" cy="194667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767953" y="2870532"/>
            <a:ext cx="894755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em Prod.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371475" y="3102173"/>
            <a:ext cx="2628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em producao renderizando via iframe em aguma URL especifica com monitoramento</a:t>
            </a:r>
            <a:endParaRPr lang="en-US" sz="834" dirty="0"/>
          </a:p>
        </p:txBody>
      </p:sp>
      <p:sp>
        <p:nvSpPr>
          <p:cNvPr id="43" name="Shape 40"/>
          <p:cNvSpPr/>
          <p:nvPr/>
        </p:nvSpPr>
        <p:spPr>
          <a:xfrm>
            <a:off x="3171825" y="2764631"/>
            <a:ext cx="28003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3171825" y="2764631"/>
            <a:ext cx="28003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Shape 42"/>
          <p:cNvSpPr/>
          <p:nvPr/>
        </p:nvSpPr>
        <p:spPr>
          <a:xfrm>
            <a:off x="3257550" y="2850356"/>
            <a:ext cx="317897" cy="194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6" name="Text 43"/>
          <p:cNvSpPr/>
          <p:nvPr/>
        </p:nvSpPr>
        <p:spPr>
          <a:xfrm>
            <a:off x="3257550" y="2850356"/>
            <a:ext cx="317897" cy="194667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3646884" y="2870532"/>
            <a:ext cx="113407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Nativas Entregues</a:t>
            </a:r>
            <a:endParaRPr lang="en-US" sz="885" dirty="0"/>
          </a:p>
        </p:txBody>
      </p:sp>
      <p:sp>
        <p:nvSpPr>
          <p:cNvPr id="48" name="Text 45"/>
          <p:cNvSpPr/>
          <p:nvPr/>
        </p:nvSpPr>
        <p:spPr>
          <a:xfrm>
            <a:off x="3257550" y="3102173"/>
            <a:ext cx="2628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Estrategia de migracao definida e estrutura angularJS em reducao controlada</a:t>
            </a:r>
            <a:endParaRPr lang="en-US" sz="834" dirty="0"/>
          </a:p>
        </p:txBody>
      </p:sp>
      <p:sp>
        <p:nvSpPr>
          <p:cNvPr id="49" name="Shape 46"/>
          <p:cNvSpPr/>
          <p:nvPr/>
        </p:nvSpPr>
        <p:spPr>
          <a:xfrm>
            <a:off x="6057900" y="2764631"/>
            <a:ext cx="28003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7"/>
          <p:cNvSpPr/>
          <p:nvPr/>
        </p:nvSpPr>
        <p:spPr>
          <a:xfrm>
            <a:off x="6057900" y="2764631"/>
            <a:ext cx="28003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Shape 48"/>
          <p:cNvSpPr/>
          <p:nvPr/>
        </p:nvSpPr>
        <p:spPr>
          <a:xfrm>
            <a:off x="6143625" y="2850356"/>
            <a:ext cx="321469" cy="194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2" name="Text 49"/>
          <p:cNvSpPr/>
          <p:nvPr/>
        </p:nvSpPr>
        <p:spPr>
          <a:xfrm>
            <a:off x="6143625" y="2850356"/>
            <a:ext cx="321469" cy="194667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784" dirty="0"/>
          </a:p>
        </p:txBody>
      </p:sp>
      <p:sp>
        <p:nvSpPr>
          <p:cNvPr id="53" name="Text 50"/>
          <p:cNvSpPr/>
          <p:nvPr/>
        </p:nvSpPr>
        <p:spPr>
          <a:xfrm>
            <a:off x="6536531" y="2870532"/>
            <a:ext cx="1198364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Formalizado</a:t>
            </a:r>
            <a:endParaRPr lang="en-US" sz="885" dirty="0"/>
          </a:p>
        </p:txBody>
      </p:sp>
      <p:sp>
        <p:nvSpPr>
          <p:cNvPr id="54" name="Text 51"/>
          <p:cNvSpPr/>
          <p:nvPr/>
        </p:nvSpPr>
        <p:spPr>
          <a:xfrm>
            <a:off x="6143625" y="3102173"/>
            <a:ext cx="2628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para microfrontends e plano de redução do legado revisado e atualizado.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441305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M1 - Visão e Critérios do Shell Definidos</a:t>
            </a:r>
            <a:endParaRPr lang="en-US" sz="1602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975122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50" y="971550"/>
            <a:ext cx="14716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validado?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342900" y="1264444"/>
            <a:ext cx="4186238" cy="1438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342900" y="1264444"/>
            <a:ext cx="4186238" cy="42863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7673"/>
            <a:ext cx="192881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5806" y="1378744"/>
            <a:ext cx="20038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Arquitetura-alvo aprovada</a:t>
            </a:r>
            <a:endParaRPr lang="en-US" sz="109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82353"/>
            <a:ext cx="142875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" y="1653778"/>
            <a:ext cx="163949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como camada central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19520"/>
            <a:ext cx="142875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5800" y="1890945"/>
            <a:ext cx="169128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Convivência iframe + nativo</a:t>
            </a:r>
            <a:endParaRPr lang="en-US" sz="942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56687"/>
            <a:ext cx="142875" cy="11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" y="2128112"/>
            <a:ext cx="190202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Modularização vertical definida</a:t>
            </a:r>
            <a:endParaRPr lang="en-US" sz="942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393854"/>
            <a:ext cx="142875" cy="1143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85800" y="2365279"/>
            <a:ext cx="14430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 do design system</a:t>
            </a:r>
            <a:endParaRPr lang="en-US" sz="942" dirty="0"/>
          </a:p>
        </p:txBody>
      </p:sp>
      <p:sp>
        <p:nvSpPr>
          <p:cNvPr id="20" name="Shape 11"/>
          <p:cNvSpPr/>
          <p:nvPr/>
        </p:nvSpPr>
        <p:spPr>
          <a:xfrm>
            <a:off x="4614863" y="1264444"/>
            <a:ext cx="4186238" cy="1438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2"/>
          <p:cNvSpPr/>
          <p:nvPr/>
        </p:nvSpPr>
        <p:spPr>
          <a:xfrm>
            <a:off x="4614863" y="1264444"/>
            <a:ext cx="4186238" cy="42863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9163" y="1387673"/>
            <a:ext cx="171450" cy="1714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986338" y="1378744"/>
            <a:ext cx="15716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sucesso</a:t>
            </a:r>
            <a:endParaRPr lang="en-US" sz="109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9163" y="1682353"/>
            <a:ext cx="142875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957763" y="1653778"/>
            <a:ext cx="18395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</a:t>
            </a:r>
            <a:endParaRPr lang="en-US" sz="942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3" y="1919520"/>
            <a:ext cx="142875" cy="1143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957763" y="1890945"/>
            <a:ext cx="14251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legado (%)</a:t>
            </a:r>
            <a:endParaRPr lang="en-US" sz="942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9163" y="2156687"/>
            <a:ext cx="142875" cy="1143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957763" y="2128112"/>
            <a:ext cx="144482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Adoção de padrões (%)</a:t>
            </a:r>
            <a:endParaRPr lang="en-US" sz="942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9163" y="2393854"/>
            <a:ext cx="142875" cy="1143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957763" y="2365279"/>
            <a:ext cx="78759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42" dirty="0"/>
          </a:p>
        </p:txBody>
      </p:sp>
      <p:sp>
        <p:nvSpPr>
          <p:cNvPr id="32" name="Shape 18"/>
          <p:cNvSpPr/>
          <p:nvPr/>
        </p:nvSpPr>
        <p:spPr>
          <a:xfrm>
            <a:off x="342900" y="2745321"/>
            <a:ext cx="4186238" cy="1438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19"/>
          <p:cNvSpPr/>
          <p:nvPr/>
        </p:nvSpPr>
        <p:spPr>
          <a:xfrm>
            <a:off x="342900" y="2745321"/>
            <a:ext cx="4186238" cy="42863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2868550"/>
            <a:ext cx="192881" cy="17145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735806" y="2859621"/>
            <a:ext cx="17002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operacional</a:t>
            </a:r>
            <a:endParaRPr lang="en-US" sz="109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163230"/>
            <a:ext cx="142875" cy="11430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85800" y="3134655"/>
            <a:ext cx="120908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rollout</a:t>
            </a:r>
            <a:endParaRPr lang="en-US" sz="942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400397"/>
            <a:ext cx="142875" cy="11430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85800" y="3371822"/>
            <a:ext cx="130909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rollback</a:t>
            </a:r>
            <a:endParaRPr lang="en-US" sz="942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3637564"/>
            <a:ext cx="142875" cy="11430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85800" y="3608989"/>
            <a:ext cx="7929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flags</a:t>
            </a:r>
            <a:endParaRPr lang="en-US" sz="942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3874731"/>
            <a:ext cx="142875" cy="11430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85800" y="3846156"/>
            <a:ext cx="134481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contingência</a:t>
            </a:r>
            <a:endParaRPr lang="en-US" sz="942" dirty="0"/>
          </a:p>
        </p:txBody>
      </p:sp>
      <p:sp>
        <p:nvSpPr>
          <p:cNvPr id="44" name="Shape 25"/>
          <p:cNvSpPr/>
          <p:nvPr/>
        </p:nvSpPr>
        <p:spPr>
          <a:xfrm>
            <a:off x="4614863" y="2745321"/>
            <a:ext cx="4186238" cy="139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26"/>
          <p:cNvSpPr/>
          <p:nvPr/>
        </p:nvSpPr>
        <p:spPr>
          <a:xfrm>
            <a:off x="4614863" y="2745321"/>
            <a:ext cx="4186238" cy="42863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29163" y="2868550"/>
            <a:ext cx="214313" cy="171450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5029200" y="2859621"/>
            <a:ext cx="199310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Tecnologias homologadas</a:t>
            </a:r>
            <a:endParaRPr lang="en-US" sz="1090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29163" y="3163230"/>
            <a:ext cx="142875" cy="114300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4957763" y="3134655"/>
            <a:ext cx="144125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versão definida</a:t>
            </a:r>
            <a:endParaRPr lang="en-US" sz="942" dirty="0"/>
          </a:p>
        </p:txBody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29163" y="3400397"/>
            <a:ext cx="142875" cy="114300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4957763" y="3371822"/>
            <a:ext cx="1328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Bibliotecas aprovadas</a:t>
            </a:r>
            <a:endParaRPr lang="en-US" sz="942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9163" y="3637564"/>
            <a:ext cx="142875" cy="114300"/>
          </a:xfrm>
          <a:prstGeom prst="rect">
            <a:avLst/>
          </a:prstGeom>
        </p:spPr>
      </p:pic>
      <p:sp>
        <p:nvSpPr>
          <p:cNvPr id="53" name="Text 30"/>
          <p:cNvSpPr/>
          <p:nvPr/>
        </p:nvSpPr>
        <p:spPr>
          <a:xfrm>
            <a:off x="4957763" y="3608989"/>
            <a:ext cx="13680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validada</a:t>
            </a:r>
            <a:endParaRPr lang="en-US" sz="942" dirty="0"/>
          </a:p>
        </p:txBody>
      </p:sp>
      <p:sp>
        <p:nvSpPr>
          <p:cNvPr id="54" name="Shape 31"/>
          <p:cNvSpPr/>
          <p:nvPr/>
        </p:nvSpPr>
        <p:spPr>
          <a:xfrm>
            <a:off x="342900" y="4311923"/>
            <a:ext cx="8458200" cy="571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5" name="Shape 32"/>
          <p:cNvSpPr/>
          <p:nvPr/>
        </p:nvSpPr>
        <p:spPr>
          <a:xfrm>
            <a:off x="342900" y="4311923"/>
            <a:ext cx="57150" cy="571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33"/>
          <p:cNvSpPr/>
          <p:nvPr/>
        </p:nvSpPr>
        <p:spPr>
          <a:xfrm>
            <a:off x="457200" y="4519985"/>
            <a:ext cx="925116" cy="155377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885" dirty="0"/>
          </a:p>
        </p:txBody>
      </p:sp>
      <p:sp>
        <p:nvSpPr>
          <p:cNvPr id="57" name="Text 34"/>
          <p:cNvSpPr/>
          <p:nvPr/>
        </p:nvSpPr>
        <p:spPr>
          <a:xfrm>
            <a:off x="1496616" y="4397648"/>
            <a:ext cx="71901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Direção única para a migração.</a:t>
            </a:r>
            <a:r>
              <a:rPr lang="en-US" sz="105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Arquitetura, tecnologia, métricas e estratégia de rollout/rollback </a:t>
            </a:r>
            <a:r>
              <a:rPr lang="en-US" sz="105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aprovadas. alinhamento e clareza de como vamos seguir</a:t>
            </a:r>
            <a:endParaRPr lang="en-US" sz="98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597038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– Fundação técnica do Shell pronta (Semanas 3-4)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22860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3143250" y="971550"/>
            <a:ext cx="285750" cy="28575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00050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85775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571500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57225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7" name="Text 14"/>
          <p:cNvSpPr/>
          <p:nvPr/>
        </p:nvSpPr>
        <p:spPr>
          <a:xfrm>
            <a:off x="6572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78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75172"/>
            <a:ext cx="200025" cy="2000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8650" y="1371600"/>
            <a:ext cx="15180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entregue?</a:t>
            </a:r>
            <a:endParaRPr lang="en-US" sz="1193" dirty="0"/>
          </a:p>
        </p:txBody>
      </p:sp>
      <p:sp>
        <p:nvSpPr>
          <p:cNvPr id="20" name="Shape 16"/>
          <p:cNvSpPr/>
          <p:nvPr/>
        </p:nvSpPr>
        <p:spPr>
          <a:xfrm>
            <a:off x="342900" y="1635919"/>
            <a:ext cx="8458200" cy="34218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506"/>
            <a:ext cx="142875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225" y="1750219"/>
            <a:ext cx="505241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do novo Shell criado e comvencoes publicadas no confluente, criamos ambientes</a:t>
            </a:r>
            <a:endParaRPr lang="en-US" sz="834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81665"/>
            <a:ext cx="142875" cy="1000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7225" y="1967378"/>
            <a:ext cx="294501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Configuramos Pipeline e quality gate ativos (lint, build)</a:t>
            </a:r>
            <a:endParaRPr lang="en-US" sz="834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98824"/>
            <a:ext cx="142875" cy="1000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7225" y="2184536"/>
            <a:ext cx="28432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integrada ao Shell e permissionamento</a:t>
            </a:r>
            <a:endParaRPr lang="en-US" sz="834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15983"/>
            <a:ext cx="142875" cy="10001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7225" y="2401695"/>
            <a:ext cx="471844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Layout, roteamento e tratamento de erros definidos alem de ferramentas de scaffolding</a:t>
            </a:r>
            <a:endParaRPr lang="en-US" sz="834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33142"/>
            <a:ext cx="142875" cy="1000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7225" y="2618854"/>
            <a:ext cx="24395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Showcase tecnico do projeto com compodoc</a:t>
            </a:r>
            <a:endParaRPr lang="en-US" sz="834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850300"/>
            <a:ext cx="142875" cy="10001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57225" y="2836013"/>
            <a:ext cx="619541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base de feature toggle disponível no Shell, com convenções de naming, ownership, regras explicitas</a:t>
            </a:r>
            <a:endParaRPr lang="en-US" sz="834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067459"/>
            <a:ext cx="142875" cy="10001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7225" y="3053172"/>
            <a:ext cx="520243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de fallback operacional documentado falha de iframe e erro de carregamento de módulo</a:t>
            </a:r>
            <a:endParaRPr lang="en-US" sz="834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284618"/>
            <a:ext cx="142875" cy="100013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57225" y="3270331"/>
            <a:ext cx="549533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mínima de testes automatizados para Shell, autenticação, fallback e fluxos críticos definida</a:t>
            </a:r>
            <a:endParaRPr lang="en-US" sz="834" dirty="0"/>
          </a:p>
        </p:txBody>
      </p:sp>
      <p:sp>
        <p:nvSpPr>
          <p:cNvPr id="37" name="Text 25"/>
          <p:cNvSpPr/>
          <p:nvPr/>
        </p:nvSpPr>
        <p:spPr>
          <a:xfrm>
            <a:off x="457200" y="3516064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endParaRPr lang="en-US" sz="784" dirty="0"/>
          </a:p>
        </p:txBody>
      </p:sp>
      <p:sp>
        <p:nvSpPr>
          <p:cNvPr id="38" name="Text 26"/>
          <p:cNvSpPr/>
          <p:nvPr/>
        </p:nvSpPr>
        <p:spPr>
          <a:xfrm>
            <a:off x="457200" y="3710732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preparado para desenvolvimento real, com repo, ambientes, pipeline, auth, convenções, scaffolding e feature toggle base</a:t>
            </a:r>
            <a:endParaRPr lang="en-US" sz="834" dirty="0"/>
          </a:p>
        </p:txBody>
      </p:sp>
      <p:sp>
        <p:nvSpPr>
          <p:cNvPr id="39" name="Text 27"/>
          <p:cNvSpPr/>
          <p:nvPr/>
        </p:nvSpPr>
        <p:spPr>
          <a:xfrm>
            <a:off x="457200" y="3985040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ALCANÇAMOS:</a:t>
            </a:r>
            <a:endParaRPr lang="en-US" sz="784" dirty="0"/>
          </a:p>
        </p:txBody>
      </p:sp>
      <p:sp>
        <p:nvSpPr>
          <p:cNvPr id="40" name="Text 28"/>
          <p:cNvSpPr/>
          <p:nvPr/>
        </p:nvSpPr>
        <p:spPr>
          <a:xfrm>
            <a:off x="457200" y="4179708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técnica para construir com padrão e menor risco.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58096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 – Design system inicial disponível (Semanas 5-6)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22860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314325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000500" y="971550"/>
            <a:ext cx="285750" cy="28575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85775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571500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57225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7" name="Text 14"/>
          <p:cNvSpPr/>
          <p:nvPr/>
        </p:nvSpPr>
        <p:spPr>
          <a:xfrm>
            <a:off x="6572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78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75172"/>
            <a:ext cx="200025" cy="2000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8650" y="1371600"/>
            <a:ext cx="202346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disponibilizado?</a:t>
            </a:r>
            <a:endParaRPr lang="en-US" sz="1193" dirty="0"/>
          </a:p>
        </p:txBody>
      </p:sp>
      <p:sp>
        <p:nvSpPr>
          <p:cNvPr id="20" name="Shape 16"/>
          <p:cNvSpPr/>
          <p:nvPr/>
        </p:nvSpPr>
        <p:spPr>
          <a:xfrm>
            <a:off x="342900" y="1635919"/>
            <a:ext cx="8458200" cy="34218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506"/>
            <a:ext cx="142875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225" y="1750219"/>
            <a:ext cx="286643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definidos (cores, ícones, tipografia, grid)</a:t>
            </a:r>
            <a:endParaRPr lang="en-US" sz="942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1673"/>
            <a:ext cx="142875" cy="1000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7225" y="1987386"/>
            <a:ext cx="300930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bases disponíveis para reutilização</a:t>
            </a:r>
            <a:endParaRPr lang="en-US" sz="942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38840"/>
            <a:ext cx="142875" cy="1000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7225" y="2224553"/>
            <a:ext cx="163234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Adaptacao para look &amp; feel</a:t>
            </a:r>
            <a:endParaRPr lang="en-US" sz="942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76007"/>
            <a:ext cx="142875" cy="10001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7225" y="2461720"/>
            <a:ext cx="46577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Showcase com storybook para visualização dos componentes em url interna</a:t>
            </a:r>
            <a:endParaRPr lang="en-US" sz="942" dirty="0"/>
          </a:p>
        </p:txBody>
      </p:sp>
      <p:sp>
        <p:nvSpPr>
          <p:cNvPr id="29" name="Text 21"/>
          <p:cNvSpPr/>
          <p:nvPr/>
        </p:nvSpPr>
        <p:spPr>
          <a:xfrm>
            <a:off x="457200" y="2727461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endParaRPr lang="en-US" sz="784" dirty="0"/>
          </a:p>
        </p:txBody>
      </p:sp>
      <p:sp>
        <p:nvSpPr>
          <p:cNvPr id="30" name="Text 22"/>
          <p:cNvSpPr/>
          <p:nvPr/>
        </p:nvSpPr>
        <p:spPr>
          <a:xfrm>
            <a:off x="457200" y="2922129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visual e técnica comum criada, com tokens, componentes reutilizáveis e showcase interno.</a:t>
            </a:r>
            <a:endParaRPr lang="en-US" sz="834" dirty="0"/>
          </a:p>
        </p:txBody>
      </p:sp>
      <p:sp>
        <p:nvSpPr>
          <p:cNvPr id="31" name="Text 23"/>
          <p:cNvSpPr/>
          <p:nvPr/>
        </p:nvSpPr>
        <p:spPr>
          <a:xfrm>
            <a:off x="457200" y="3196437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ALCANÇAMOS:</a:t>
            </a:r>
            <a:endParaRPr lang="en-US" sz="784" dirty="0"/>
          </a:p>
        </p:txBody>
      </p:sp>
      <p:sp>
        <p:nvSpPr>
          <p:cNvPr id="32" name="Text 24"/>
          <p:cNvSpPr/>
          <p:nvPr/>
        </p:nvSpPr>
        <p:spPr>
          <a:xfrm>
            <a:off x="457200" y="3391105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consistência na experiência e mais velocidade para novas entregas.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703302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 – Shell em produção convivendo com legado (Semanas 7-8)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22860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314325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0005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857750" y="971550"/>
            <a:ext cx="285750" cy="28575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571500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57225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7" name="Text 14"/>
          <p:cNvSpPr/>
          <p:nvPr/>
        </p:nvSpPr>
        <p:spPr>
          <a:xfrm>
            <a:off x="6572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78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75172"/>
            <a:ext cx="200025" cy="2000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8650" y="1371600"/>
            <a:ext cx="180558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comprovado?</a:t>
            </a:r>
            <a:endParaRPr lang="en-US" sz="1193" dirty="0"/>
          </a:p>
        </p:txBody>
      </p:sp>
      <p:sp>
        <p:nvSpPr>
          <p:cNvPr id="20" name="Shape 16"/>
          <p:cNvSpPr/>
          <p:nvPr/>
        </p:nvSpPr>
        <p:spPr>
          <a:xfrm>
            <a:off x="342900" y="1635919"/>
            <a:ext cx="8458200" cy="34218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506"/>
            <a:ext cx="142875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225" y="1750219"/>
            <a:ext cx="46577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 tela legada renderizada dentro do Shell com autenticação via iframe</a:t>
            </a:r>
            <a:endParaRPr lang="en-US" sz="942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1673"/>
            <a:ext cx="142875" cy="1000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7225" y="1987386"/>
            <a:ext cx="257710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integração via iframe definida</a:t>
            </a:r>
            <a:endParaRPr lang="en-US" sz="942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38840"/>
            <a:ext cx="142875" cy="1000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7225" y="2224553"/>
            <a:ext cx="251817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de Shell com legado em produção</a:t>
            </a:r>
            <a:endParaRPr lang="en-US" sz="942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76007"/>
            <a:ext cx="142875" cy="10001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7225" y="2461720"/>
            <a:ext cx="143053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sendo monitorado</a:t>
            </a:r>
            <a:endParaRPr lang="en-US" sz="942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13174"/>
            <a:ext cx="142875" cy="1000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7225" y="2698886"/>
            <a:ext cx="174843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operacional testado</a:t>
            </a:r>
            <a:endParaRPr lang="en-US" sz="942" dirty="0"/>
          </a:p>
        </p:txBody>
      </p:sp>
      <p:sp>
        <p:nvSpPr>
          <p:cNvPr id="31" name="Text 22"/>
          <p:cNvSpPr/>
          <p:nvPr/>
        </p:nvSpPr>
        <p:spPr>
          <a:xfrm>
            <a:off x="457200" y="2964628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endParaRPr lang="en-US" sz="784" dirty="0"/>
          </a:p>
        </p:txBody>
      </p:sp>
      <p:sp>
        <p:nvSpPr>
          <p:cNvPr id="32" name="Text 23"/>
          <p:cNvSpPr/>
          <p:nvPr/>
        </p:nvSpPr>
        <p:spPr>
          <a:xfrm>
            <a:off x="457200" y="3159296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publicado em produção com legado integrado via iframe, rollout controlado e monitoramento ativo.</a:t>
            </a:r>
            <a:endParaRPr lang="en-US" sz="834" dirty="0"/>
          </a:p>
        </p:txBody>
      </p:sp>
      <p:sp>
        <p:nvSpPr>
          <p:cNvPr id="33" name="Text 24"/>
          <p:cNvSpPr/>
          <p:nvPr/>
        </p:nvSpPr>
        <p:spPr>
          <a:xfrm>
            <a:off x="457200" y="3433604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ALCANÇAMOS:</a:t>
            </a:r>
            <a:endParaRPr lang="en-US" sz="784" dirty="0"/>
          </a:p>
        </p:txBody>
      </p:sp>
      <p:sp>
        <p:nvSpPr>
          <p:cNvPr id="34" name="Text 25"/>
          <p:cNvSpPr/>
          <p:nvPr/>
        </p:nvSpPr>
        <p:spPr>
          <a:xfrm>
            <a:off x="457200" y="3628272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segura do novo Shell e plano de rollback claro.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699551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 – Primeiras telas nativas entregues no Shell (Semanas 9-10)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22860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314325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0005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85775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5715000" y="971550"/>
            <a:ext cx="285750" cy="28575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572250" y="971550"/>
            <a:ext cx="285750" cy="2857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7" name="Text 14"/>
          <p:cNvSpPr/>
          <p:nvPr/>
        </p:nvSpPr>
        <p:spPr>
          <a:xfrm>
            <a:off x="6572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78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75172"/>
            <a:ext cx="200025" cy="2000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8650" y="1371600"/>
            <a:ext cx="14716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validado?</a:t>
            </a:r>
            <a:endParaRPr lang="en-US" sz="1193" dirty="0"/>
          </a:p>
        </p:txBody>
      </p:sp>
      <p:sp>
        <p:nvSpPr>
          <p:cNvPr id="20" name="Shape 16"/>
          <p:cNvSpPr/>
          <p:nvPr/>
        </p:nvSpPr>
        <p:spPr>
          <a:xfrm>
            <a:off x="342900" y="1635919"/>
            <a:ext cx="8458200" cy="34218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506"/>
            <a:ext cx="142875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225" y="1750219"/>
            <a:ext cx="590966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migração por tela/jornada definida com Critério de descontinuação de telas legadas</a:t>
            </a:r>
            <a:endParaRPr lang="en-US" sz="942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1673"/>
            <a:ext cx="142875" cy="1000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7225" y="1987386"/>
            <a:ext cx="424695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 tela nativa no Shell entregue usando arquitetura vertical + DS</a:t>
            </a:r>
            <a:endParaRPr lang="en-US" sz="942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38840"/>
            <a:ext cx="142875" cy="1000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7225" y="2224553"/>
            <a:ext cx="205918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AngularJS em redução controlada</a:t>
            </a:r>
            <a:endParaRPr lang="en-US" sz="942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76007"/>
            <a:ext cx="142875" cy="10001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7225" y="2461720"/>
            <a:ext cx="207525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Esteira de novas telas estabilizada</a:t>
            </a:r>
            <a:endParaRPr lang="en-US" sz="942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13174"/>
            <a:ext cx="142875" cy="1000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7225" y="2698886"/>
            <a:ext cx="32539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produtividade e estabilidade comparadas</a:t>
            </a:r>
            <a:endParaRPr lang="en-US" sz="942" dirty="0"/>
          </a:p>
        </p:txBody>
      </p:sp>
      <p:sp>
        <p:nvSpPr>
          <p:cNvPr id="31" name="Text 22"/>
          <p:cNvSpPr/>
          <p:nvPr/>
        </p:nvSpPr>
        <p:spPr>
          <a:xfrm>
            <a:off x="457200" y="2964628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endParaRPr lang="en-US" sz="784" dirty="0"/>
          </a:p>
        </p:txBody>
      </p:sp>
      <p:sp>
        <p:nvSpPr>
          <p:cNvPr id="32" name="Text 23"/>
          <p:cNvSpPr/>
          <p:nvPr/>
        </p:nvSpPr>
        <p:spPr>
          <a:xfrm>
            <a:off x="457200" y="3159296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primeiras jornadas nativas em Angular moderno entregues dentro do Shell com arquitetura vertical e DS.</a:t>
            </a:r>
            <a:endParaRPr lang="en-US" sz="834" dirty="0"/>
          </a:p>
        </p:txBody>
      </p:sp>
      <p:sp>
        <p:nvSpPr>
          <p:cNvPr id="33" name="Text 24"/>
          <p:cNvSpPr/>
          <p:nvPr/>
        </p:nvSpPr>
        <p:spPr>
          <a:xfrm>
            <a:off x="457200" y="3433604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ALCANÇAMOS:</a:t>
            </a:r>
            <a:endParaRPr lang="en-US" sz="784" dirty="0"/>
          </a:p>
        </p:txBody>
      </p:sp>
      <p:sp>
        <p:nvSpPr>
          <p:cNvPr id="34" name="Text 25"/>
          <p:cNvSpPr/>
          <p:nvPr/>
        </p:nvSpPr>
        <p:spPr>
          <a:xfrm>
            <a:off x="457200" y="3628272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começo real da redução do AngularJS e validação do novo modelo de entrega.</a:t>
            </a: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0215"/>
            <a:ext cx="787598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 – Estratégia de migração e microfronts formalizada (Semanas 11-12)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22860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314325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0005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85775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5715000" y="971550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572250" y="971550"/>
            <a:ext cx="285750" cy="28575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6572250" y="9715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78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75172"/>
            <a:ext cx="200025" cy="2000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8650" y="1371600"/>
            <a:ext cx="175200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formalizado?</a:t>
            </a:r>
            <a:endParaRPr lang="en-US" sz="1193" dirty="0"/>
          </a:p>
        </p:txBody>
      </p:sp>
      <p:sp>
        <p:nvSpPr>
          <p:cNvPr id="20" name="Shape 16"/>
          <p:cNvSpPr/>
          <p:nvPr/>
        </p:nvSpPr>
        <p:spPr>
          <a:xfrm>
            <a:off x="342900" y="1635919"/>
            <a:ext cx="8458200" cy="34218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506"/>
            <a:ext cx="142875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225" y="1750219"/>
            <a:ext cx="605968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e gatilhos para adoção futura de Nx e/ou estratégias de microfrontend avaliados e formalizados.</a:t>
            </a:r>
            <a:endParaRPr lang="en-US" sz="888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1655"/>
            <a:ext cx="142875" cy="1000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7225" y="1977368"/>
            <a:ext cx="4270177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Evidências coletadas para decidir se a complexidade adicional se justifica.</a:t>
            </a:r>
            <a:endParaRPr lang="en-US" sz="888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18804"/>
            <a:ext cx="142875" cy="1000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7225" y="2204517"/>
            <a:ext cx="320218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Introducao de novas tecnologias (NX, native federation)</a:t>
            </a:r>
            <a:endParaRPr lang="en-US" sz="888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45953"/>
            <a:ext cx="142875" cy="10001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7225" y="2431666"/>
            <a:ext cx="286464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redução de legado revisado e atualizado</a:t>
            </a:r>
            <a:endParaRPr lang="en-US" sz="888" dirty="0"/>
          </a:p>
        </p:txBody>
      </p:sp>
      <p:sp>
        <p:nvSpPr>
          <p:cNvPr id="29" name="Text 21"/>
          <p:cNvSpPr/>
          <p:nvPr/>
        </p:nvSpPr>
        <p:spPr>
          <a:xfrm>
            <a:off x="457200" y="2687389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endParaRPr lang="en-US" sz="784" dirty="0"/>
          </a:p>
        </p:txBody>
      </p:sp>
      <p:sp>
        <p:nvSpPr>
          <p:cNvPr id="30" name="Text 22"/>
          <p:cNvSpPr/>
          <p:nvPr/>
        </p:nvSpPr>
        <p:spPr>
          <a:xfrm>
            <a:off x="457200" y="2882057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evolução revisado com critérios claros para próximos passos e eventual adoção de microfrontends.</a:t>
            </a:r>
            <a:endParaRPr lang="en-US" sz="834" dirty="0"/>
          </a:p>
        </p:txBody>
      </p:sp>
      <p:sp>
        <p:nvSpPr>
          <p:cNvPr id="31" name="Text 23"/>
          <p:cNvSpPr/>
          <p:nvPr/>
        </p:nvSpPr>
        <p:spPr>
          <a:xfrm>
            <a:off x="457200" y="3156365"/>
            <a:ext cx="8229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ALCANÇAMOS:</a:t>
            </a:r>
            <a:endParaRPr lang="en-US" sz="784" dirty="0"/>
          </a:p>
        </p:txBody>
      </p:sp>
      <p:sp>
        <p:nvSpPr>
          <p:cNvPr id="32" name="Text 24"/>
          <p:cNvSpPr/>
          <p:nvPr/>
        </p:nvSpPr>
        <p:spPr>
          <a:xfrm>
            <a:off x="457200" y="3351033"/>
            <a:ext cx="8229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maturidade para evoluir sem overengineering e com decisão baseada em evidência.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2026-04-08T16:36:46Z</dcterms:created>
  <dcterms:modified xsi:type="dcterms:W3CDTF">2026-04-08T16:36:46Z</dcterms:modified>
</cp:coreProperties>
</file>